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69879" y="6232199"/>
            <a:ext cx="258621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6291071"/>
            <a:ext cx="12191697" cy="566932"/>
          </a:xfrm>
          <a:prstGeom prst="rect">
            <a:avLst/>
          </a:prstGeom>
          <a:solidFill>
            <a:srgbClr val="16271C">
              <a:alpha val="7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" name="Text 1"/>
          <p:cNvSpPr txBox="1"/>
          <p:nvPr/>
        </p:nvSpPr>
        <p:spPr>
          <a:xfrm>
            <a:off x="594359" y="6496103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AF0E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Tillämpad AI · Maskininlärning &amp; Deep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UPPDRAGET</a:t>
            </a:r>
          </a:p>
        </p:txBody>
      </p:sp>
      <p:sp>
        <p:nvSpPr>
          <p:cNvPr id="25" name="Text 2"/>
          <p:cNvSpPr txBox="1"/>
          <p:nvPr/>
        </p:nvSpPr>
        <p:spPr>
          <a:xfrm>
            <a:off x="594356" y="1194308"/>
            <a:ext cx="6309368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3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Hitta människor i terräng</a:t>
            </a:r>
          </a:p>
        </p:txBody>
      </p:sp>
      <p:sp>
        <p:nvSpPr>
          <p:cNvPr id="26" name="Text 3"/>
          <p:cNvSpPr txBox="1"/>
          <p:nvPr/>
        </p:nvSpPr>
        <p:spPr>
          <a:xfrm>
            <a:off x="640077" y="1965960"/>
            <a:ext cx="6035045" cy="1383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08000"/>
              </a:lnSpc>
              <a:spcBef>
                <a:spcPts val="1200"/>
              </a:spcBef>
              <a:defRPr sz="16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Identifiera nödställda personer i terräng från flygbild — oavsett om de syns tydligt eller är delvis dolda. Ett uppdrag åt Försvarsmakten där varje missad person kan vara kritisk.</a:t>
            </a:r>
          </a:p>
          <a:p>
            <a:pPr>
              <a:lnSpc>
                <a:spcPct val="108000"/>
              </a:lnSpc>
              <a:defRPr sz="16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Vi formulerar det som binär klassificering: finns det en människa i bilden eller inte?</a:t>
            </a:r>
          </a:p>
        </p:txBody>
      </p:sp>
      <p:sp>
        <p:nvSpPr>
          <p:cNvPr id="27" name="Shape 4"/>
          <p:cNvSpPr/>
          <p:nvPr/>
        </p:nvSpPr>
        <p:spPr>
          <a:xfrm>
            <a:off x="594360" y="4709159"/>
            <a:ext cx="6126480" cy="1143004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" name="Shape 5"/>
          <p:cNvSpPr/>
          <p:nvPr/>
        </p:nvSpPr>
        <p:spPr>
          <a:xfrm>
            <a:off x="594359" y="4709159"/>
            <a:ext cx="128020" cy="1143004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" name="Text 6"/>
          <p:cNvSpPr txBox="1"/>
          <p:nvPr/>
        </p:nvSpPr>
        <p:spPr>
          <a:xfrm>
            <a:off x="1005836" y="5130362"/>
            <a:ext cx="5394966" cy="300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600">
                <a:solidFill>
                  <a:srgbClr val="E7C145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Prioritering:  </a:t>
            </a:r>
            <a:r>
              <a:rPr b="0">
                <a:solidFill>
                  <a:srgbClr val="FFFFFF"/>
                </a:solidFill>
              </a:rPr>
              <a:t>hellre ett falsklarm än en missad människa.</a:t>
            </a:r>
          </a:p>
        </p:txBody>
      </p:sp>
      <p:sp>
        <p:nvSpPr>
          <p:cNvPr id="30" name="Shape 7"/>
          <p:cNvSpPr/>
          <p:nvPr/>
        </p:nvSpPr>
        <p:spPr>
          <a:xfrm>
            <a:off x="7269480" y="1024124"/>
            <a:ext cx="4297684" cy="457200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79206" y="1133855"/>
            <a:ext cx="4078228" cy="402336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ext 8"/>
          <p:cNvSpPr txBox="1"/>
          <p:nvPr/>
        </p:nvSpPr>
        <p:spPr>
          <a:xfrm>
            <a:off x="7424925" y="5262414"/>
            <a:ext cx="3986788" cy="228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0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Flygbild ur SARD-datasetet — människa och fordon i terräng.</a:t>
            </a:r>
          </a:p>
        </p:txBody>
      </p:sp>
      <p:sp>
        <p:nvSpPr>
          <p:cNvPr id="33" name="Shape 9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" name="Text 10"/>
          <p:cNvSpPr txBox="1"/>
          <p:nvPr/>
        </p:nvSpPr>
        <p:spPr>
          <a:xfrm>
            <a:off x="877820" y="6348133"/>
            <a:ext cx="5394966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  <p:sp>
        <p:nvSpPr>
          <p:cNvPr id="35" name="Text 11"/>
          <p:cNvSpPr txBox="1"/>
          <p:nvPr/>
        </p:nvSpPr>
        <p:spPr>
          <a:xfrm>
            <a:off x="10911533" y="6348133"/>
            <a:ext cx="640084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DATASETET</a:t>
            </a:r>
          </a:p>
        </p:txBody>
      </p:sp>
      <p:sp>
        <p:nvSpPr>
          <p:cNvPr id="39" name="Text 2"/>
          <p:cNvSpPr txBox="1"/>
          <p:nvPr/>
        </p:nvSpPr>
        <p:spPr>
          <a:xfrm>
            <a:off x="594359" y="1135885"/>
            <a:ext cx="82296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SARD – Search and Rescue</a:t>
            </a:r>
          </a:p>
        </p:txBody>
      </p:sp>
      <p:sp>
        <p:nvSpPr>
          <p:cNvPr id="40" name="Text 3"/>
          <p:cNvSpPr txBox="1"/>
          <p:nvPr/>
        </p:nvSpPr>
        <p:spPr>
          <a:xfrm>
            <a:off x="640077" y="1783077"/>
            <a:ext cx="5577846" cy="772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0000"/>
              </a:lnSpc>
              <a:defRPr sz="15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Flygbilder med YOLO-etiketter. En tom etikettfil → </a:t>
            </a:r>
            <a:r>
              <a:rPr b="1">
                <a:solidFill>
                  <a:srgbClr val="2C5F2D"/>
                </a:solidFill>
              </a:rPr>
              <a:t>ingen människa</a:t>
            </a:r>
            <a:r>
              <a:t>, en fil med minst en box → </a:t>
            </a:r>
            <a:r>
              <a:rPr b="1">
                <a:solidFill>
                  <a:srgbClr val="2C5F2D"/>
                </a:solidFill>
              </a:rPr>
              <a:t>människa</a:t>
            </a:r>
            <a:r>
              <a:t>. Datasetet är tydligt obalanserat, vilket vi hanterar med class weights.</a:t>
            </a:r>
          </a:p>
        </p:txBody>
      </p:sp>
      <p:sp>
        <p:nvSpPr>
          <p:cNvPr id="41" name="Text 16"/>
          <p:cNvSpPr txBox="1"/>
          <p:nvPr/>
        </p:nvSpPr>
        <p:spPr>
          <a:xfrm>
            <a:off x="640077" y="3409215"/>
            <a:ext cx="5577846" cy="38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2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5 755</a:t>
            </a:r>
            <a:r>
              <a:rPr b="0">
                <a:solidFill>
                  <a:srgbClr val="5C6B5A"/>
                </a:solidFill>
              </a:rPr>
              <a:t> bilder totalt  ·  </a:t>
            </a:r>
            <a:r>
              <a:t>≈86 % </a:t>
            </a:r>
            <a:r>
              <a:rPr b="0">
                <a:solidFill>
                  <a:srgbClr val="5C6B5A"/>
                </a:solidFill>
              </a:rPr>
              <a:t>med människa</a:t>
            </a:r>
          </a:p>
        </p:txBody>
      </p:sp>
      <p:sp>
        <p:nvSpPr>
          <p:cNvPr id="42" name="Shape 17"/>
          <p:cNvSpPr/>
          <p:nvPr/>
        </p:nvSpPr>
        <p:spPr>
          <a:xfrm>
            <a:off x="6903718" y="1417317"/>
            <a:ext cx="4663444" cy="42062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" name="Text 18"/>
          <p:cNvSpPr txBox="1"/>
          <p:nvPr/>
        </p:nvSpPr>
        <p:spPr>
          <a:xfrm>
            <a:off x="7132318" y="1541124"/>
            <a:ext cx="4206243" cy="392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4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Klassfördelning</a:t>
            </a:r>
          </a:p>
        </p:txBody>
      </p:sp>
      <p:sp>
        <p:nvSpPr>
          <p:cNvPr id="44" name="Shape 19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" name="Text 20"/>
          <p:cNvSpPr txBox="1"/>
          <p:nvPr/>
        </p:nvSpPr>
        <p:spPr>
          <a:xfrm>
            <a:off x="877820" y="6348132"/>
            <a:ext cx="5394966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  <p:sp>
        <p:nvSpPr>
          <p:cNvPr id="46" name="Text 21"/>
          <p:cNvSpPr txBox="1"/>
          <p:nvPr/>
        </p:nvSpPr>
        <p:spPr>
          <a:xfrm>
            <a:off x="10911533" y="6348132"/>
            <a:ext cx="640084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7" name="Shape 4"/>
          <p:cNvSpPr/>
          <p:nvPr/>
        </p:nvSpPr>
        <p:spPr>
          <a:xfrm>
            <a:off x="8407692" y="2183700"/>
            <a:ext cx="1737364" cy="13716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" name="Shape 5"/>
          <p:cNvSpPr/>
          <p:nvPr/>
        </p:nvSpPr>
        <p:spPr>
          <a:xfrm>
            <a:off x="8407692" y="2142555"/>
            <a:ext cx="1737364" cy="91444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" name="Text 6"/>
          <p:cNvSpPr txBox="1"/>
          <p:nvPr/>
        </p:nvSpPr>
        <p:spPr>
          <a:xfrm>
            <a:off x="8453411" y="2510090"/>
            <a:ext cx="1645924" cy="535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3000">
                <a:solidFill>
                  <a:srgbClr val="2C5F2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4 041</a:t>
            </a:r>
          </a:p>
        </p:txBody>
      </p:sp>
      <p:sp>
        <p:nvSpPr>
          <p:cNvPr id="50" name="Text 7"/>
          <p:cNvSpPr txBox="1"/>
          <p:nvPr/>
        </p:nvSpPr>
        <p:spPr>
          <a:xfrm>
            <a:off x="8453411" y="3151878"/>
            <a:ext cx="1645924" cy="25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train</a:t>
            </a:r>
          </a:p>
        </p:txBody>
      </p:sp>
      <p:sp>
        <p:nvSpPr>
          <p:cNvPr id="51" name="Shape 8"/>
          <p:cNvSpPr/>
          <p:nvPr/>
        </p:nvSpPr>
        <p:spPr>
          <a:xfrm>
            <a:off x="7424925" y="3790250"/>
            <a:ext cx="1737364" cy="13716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" name="Shape 9"/>
          <p:cNvSpPr/>
          <p:nvPr/>
        </p:nvSpPr>
        <p:spPr>
          <a:xfrm>
            <a:off x="7424925" y="3790250"/>
            <a:ext cx="1737364" cy="91444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" name="Text 10"/>
          <p:cNvSpPr txBox="1"/>
          <p:nvPr/>
        </p:nvSpPr>
        <p:spPr>
          <a:xfrm>
            <a:off x="7470647" y="4116639"/>
            <a:ext cx="1645924" cy="535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3000">
                <a:solidFill>
                  <a:srgbClr val="2C5F2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1 144</a:t>
            </a:r>
          </a:p>
        </p:txBody>
      </p:sp>
      <p:sp>
        <p:nvSpPr>
          <p:cNvPr id="54" name="Text 11"/>
          <p:cNvSpPr txBox="1"/>
          <p:nvPr/>
        </p:nvSpPr>
        <p:spPr>
          <a:xfrm>
            <a:off x="7470647" y="4758428"/>
            <a:ext cx="1645924" cy="25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valid</a:t>
            </a:r>
          </a:p>
        </p:txBody>
      </p:sp>
      <p:sp>
        <p:nvSpPr>
          <p:cNvPr id="55" name="Shape 12"/>
          <p:cNvSpPr/>
          <p:nvPr/>
        </p:nvSpPr>
        <p:spPr>
          <a:xfrm>
            <a:off x="9308589" y="3790250"/>
            <a:ext cx="1737364" cy="13716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" name="Shape 13"/>
          <p:cNvSpPr/>
          <p:nvPr/>
        </p:nvSpPr>
        <p:spPr>
          <a:xfrm>
            <a:off x="9308589" y="3790250"/>
            <a:ext cx="1737364" cy="91444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" name="Text 14"/>
          <p:cNvSpPr txBox="1"/>
          <p:nvPr/>
        </p:nvSpPr>
        <p:spPr>
          <a:xfrm>
            <a:off x="9354311" y="4116639"/>
            <a:ext cx="1645924" cy="535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3000">
                <a:solidFill>
                  <a:srgbClr val="2C5F2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570</a:t>
            </a:r>
          </a:p>
        </p:txBody>
      </p:sp>
      <p:sp>
        <p:nvSpPr>
          <p:cNvPr id="58" name="Text 15"/>
          <p:cNvSpPr txBox="1"/>
          <p:nvPr/>
        </p:nvSpPr>
        <p:spPr>
          <a:xfrm>
            <a:off x="9354311" y="4758428"/>
            <a:ext cx="1645924" cy="25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METOD</a:t>
            </a:r>
          </a:p>
        </p:txBody>
      </p:sp>
      <p:sp>
        <p:nvSpPr>
          <p:cNvPr id="62" name="Text 2"/>
          <p:cNvSpPr txBox="1"/>
          <p:nvPr/>
        </p:nvSpPr>
        <p:spPr>
          <a:xfrm>
            <a:off x="594359" y="1154935"/>
            <a:ext cx="105156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Pipelinen — från rådata till förklaring</a:t>
            </a:r>
          </a:p>
        </p:txBody>
      </p:sp>
      <p:sp>
        <p:nvSpPr>
          <p:cNvPr id="63" name="Shape 3"/>
          <p:cNvSpPr/>
          <p:nvPr/>
        </p:nvSpPr>
        <p:spPr>
          <a:xfrm>
            <a:off x="594359" y="2989577"/>
            <a:ext cx="1352399" cy="15544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" name="Shape 4"/>
          <p:cNvSpPr/>
          <p:nvPr/>
        </p:nvSpPr>
        <p:spPr>
          <a:xfrm>
            <a:off x="1014527" y="2733548"/>
            <a:ext cx="512071" cy="512071"/>
          </a:xfrm>
          <a:prstGeom prst="ellipse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" name="Text 5"/>
          <p:cNvSpPr txBox="1"/>
          <p:nvPr/>
        </p:nvSpPr>
        <p:spPr>
          <a:xfrm>
            <a:off x="1060246" y="2823209"/>
            <a:ext cx="420629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6" name="Text 7"/>
          <p:cNvSpPr txBox="1"/>
          <p:nvPr/>
        </p:nvSpPr>
        <p:spPr>
          <a:xfrm>
            <a:off x="1955899" y="3530598"/>
            <a:ext cx="237748" cy="47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600">
                <a:solidFill>
                  <a:srgbClr val="8BAE5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67" name="Shape 8"/>
          <p:cNvSpPr/>
          <p:nvPr/>
        </p:nvSpPr>
        <p:spPr>
          <a:xfrm>
            <a:off x="2202788" y="2989577"/>
            <a:ext cx="1352403" cy="15544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" name="Shape 9"/>
          <p:cNvSpPr/>
          <p:nvPr/>
        </p:nvSpPr>
        <p:spPr>
          <a:xfrm>
            <a:off x="2622954" y="2733548"/>
            <a:ext cx="512071" cy="512071"/>
          </a:xfrm>
          <a:prstGeom prst="ellipse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" name="Text 10"/>
          <p:cNvSpPr txBox="1"/>
          <p:nvPr/>
        </p:nvSpPr>
        <p:spPr>
          <a:xfrm>
            <a:off x="2668675" y="2823209"/>
            <a:ext cx="42062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0" name="Text 11"/>
          <p:cNvSpPr txBox="1"/>
          <p:nvPr/>
        </p:nvSpPr>
        <p:spPr>
          <a:xfrm>
            <a:off x="640080" y="3654097"/>
            <a:ext cx="1260961" cy="43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Ladda</a:t>
            </a:r>
          </a:p>
          <a:p>
            <a:pPr algn="ctr"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data</a:t>
            </a:r>
          </a:p>
        </p:txBody>
      </p:sp>
      <p:sp>
        <p:nvSpPr>
          <p:cNvPr id="71" name="Text 12"/>
          <p:cNvSpPr txBox="1"/>
          <p:nvPr/>
        </p:nvSpPr>
        <p:spPr>
          <a:xfrm>
            <a:off x="3564330" y="3530598"/>
            <a:ext cx="237748" cy="47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600">
                <a:solidFill>
                  <a:srgbClr val="8BAE5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2" name="Shape 13"/>
          <p:cNvSpPr/>
          <p:nvPr/>
        </p:nvSpPr>
        <p:spPr>
          <a:xfrm>
            <a:off x="3811218" y="2989577"/>
            <a:ext cx="1352402" cy="15544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" name="Shape 14"/>
          <p:cNvSpPr/>
          <p:nvPr/>
        </p:nvSpPr>
        <p:spPr>
          <a:xfrm>
            <a:off x="4231385" y="2733548"/>
            <a:ext cx="512071" cy="512071"/>
          </a:xfrm>
          <a:prstGeom prst="ellipse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" name="Text 15"/>
          <p:cNvSpPr txBox="1"/>
          <p:nvPr/>
        </p:nvSpPr>
        <p:spPr>
          <a:xfrm>
            <a:off x="4277104" y="2823209"/>
            <a:ext cx="42062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5" name="Text 16"/>
          <p:cNvSpPr txBox="1"/>
          <p:nvPr/>
        </p:nvSpPr>
        <p:spPr>
          <a:xfrm>
            <a:off x="3856937" y="3749347"/>
            <a:ext cx="1260962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EDA</a:t>
            </a:r>
          </a:p>
        </p:txBody>
      </p:sp>
      <p:sp>
        <p:nvSpPr>
          <p:cNvPr id="76" name="Text 17"/>
          <p:cNvSpPr txBox="1"/>
          <p:nvPr/>
        </p:nvSpPr>
        <p:spPr>
          <a:xfrm>
            <a:off x="5172759" y="3530598"/>
            <a:ext cx="237748" cy="47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600">
                <a:solidFill>
                  <a:srgbClr val="8BAE5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7" name="Shape 18"/>
          <p:cNvSpPr/>
          <p:nvPr/>
        </p:nvSpPr>
        <p:spPr>
          <a:xfrm>
            <a:off x="5419649" y="2989577"/>
            <a:ext cx="1352402" cy="15544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8" name="Shape 19"/>
          <p:cNvSpPr/>
          <p:nvPr/>
        </p:nvSpPr>
        <p:spPr>
          <a:xfrm>
            <a:off x="5839816" y="2733548"/>
            <a:ext cx="512071" cy="512071"/>
          </a:xfrm>
          <a:prstGeom prst="ellipse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9" name="Text 20"/>
          <p:cNvSpPr txBox="1"/>
          <p:nvPr/>
        </p:nvSpPr>
        <p:spPr>
          <a:xfrm>
            <a:off x="5885536" y="2823209"/>
            <a:ext cx="42062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0" name="Text 21"/>
          <p:cNvSpPr txBox="1"/>
          <p:nvPr/>
        </p:nvSpPr>
        <p:spPr>
          <a:xfrm>
            <a:off x="5465369" y="3654097"/>
            <a:ext cx="1260962" cy="43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Bygg</a:t>
            </a:r>
          </a:p>
          <a:p>
            <a:pPr algn="ctr"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CNN</a:t>
            </a:r>
          </a:p>
        </p:txBody>
      </p:sp>
      <p:sp>
        <p:nvSpPr>
          <p:cNvPr id="81" name="Text 22"/>
          <p:cNvSpPr txBox="1"/>
          <p:nvPr/>
        </p:nvSpPr>
        <p:spPr>
          <a:xfrm>
            <a:off x="6781189" y="3530598"/>
            <a:ext cx="237748" cy="47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600">
                <a:solidFill>
                  <a:srgbClr val="8BAE5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82" name="Shape 23"/>
          <p:cNvSpPr/>
          <p:nvPr/>
        </p:nvSpPr>
        <p:spPr>
          <a:xfrm>
            <a:off x="7028077" y="2989577"/>
            <a:ext cx="1352399" cy="15544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" name="Shape 24"/>
          <p:cNvSpPr/>
          <p:nvPr/>
        </p:nvSpPr>
        <p:spPr>
          <a:xfrm>
            <a:off x="7448245" y="2733548"/>
            <a:ext cx="512071" cy="512071"/>
          </a:xfrm>
          <a:prstGeom prst="ellipse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" name="Text 25"/>
          <p:cNvSpPr txBox="1"/>
          <p:nvPr/>
        </p:nvSpPr>
        <p:spPr>
          <a:xfrm>
            <a:off x="7493965" y="2823209"/>
            <a:ext cx="42062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5" name="Text 26"/>
          <p:cNvSpPr txBox="1"/>
          <p:nvPr/>
        </p:nvSpPr>
        <p:spPr>
          <a:xfrm>
            <a:off x="7073796" y="3749347"/>
            <a:ext cx="1260961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Träna</a:t>
            </a:r>
          </a:p>
        </p:txBody>
      </p:sp>
      <p:sp>
        <p:nvSpPr>
          <p:cNvPr id="86" name="Text 27"/>
          <p:cNvSpPr txBox="1"/>
          <p:nvPr/>
        </p:nvSpPr>
        <p:spPr>
          <a:xfrm>
            <a:off x="8389618" y="3530598"/>
            <a:ext cx="237748" cy="47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600">
                <a:solidFill>
                  <a:srgbClr val="8BAE5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87" name="Shape 28"/>
          <p:cNvSpPr/>
          <p:nvPr/>
        </p:nvSpPr>
        <p:spPr>
          <a:xfrm>
            <a:off x="8636506" y="2989577"/>
            <a:ext cx="1352402" cy="15544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" name="Shape 29"/>
          <p:cNvSpPr/>
          <p:nvPr/>
        </p:nvSpPr>
        <p:spPr>
          <a:xfrm>
            <a:off x="9056675" y="2733548"/>
            <a:ext cx="512071" cy="512071"/>
          </a:xfrm>
          <a:prstGeom prst="ellipse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" name="Text 30"/>
          <p:cNvSpPr txBox="1"/>
          <p:nvPr/>
        </p:nvSpPr>
        <p:spPr>
          <a:xfrm>
            <a:off x="9102394" y="2823209"/>
            <a:ext cx="42062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0" name="Text 31"/>
          <p:cNvSpPr txBox="1"/>
          <p:nvPr/>
        </p:nvSpPr>
        <p:spPr>
          <a:xfrm>
            <a:off x="8682225" y="3749347"/>
            <a:ext cx="1260962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Utvärdera</a:t>
            </a:r>
          </a:p>
        </p:txBody>
      </p:sp>
      <p:sp>
        <p:nvSpPr>
          <p:cNvPr id="91" name="Text 32"/>
          <p:cNvSpPr txBox="1"/>
          <p:nvPr/>
        </p:nvSpPr>
        <p:spPr>
          <a:xfrm>
            <a:off x="9998047" y="3530598"/>
            <a:ext cx="237748" cy="47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600">
                <a:solidFill>
                  <a:srgbClr val="8BAE5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92" name="Shape 33"/>
          <p:cNvSpPr/>
          <p:nvPr/>
        </p:nvSpPr>
        <p:spPr>
          <a:xfrm>
            <a:off x="10244938" y="2989577"/>
            <a:ext cx="1352402" cy="1554485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3" name="Shape 34"/>
          <p:cNvSpPr/>
          <p:nvPr/>
        </p:nvSpPr>
        <p:spPr>
          <a:xfrm>
            <a:off x="10665104" y="2733548"/>
            <a:ext cx="512071" cy="512071"/>
          </a:xfrm>
          <a:prstGeom prst="ellipse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4" name="Text 35"/>
          <p:cNvSpPr txBox="1"/>
          <p:nvPr/>
        </p:nvSpPr>
        <p:spPr>
          <a:xfrm>
            <a:off x="10710822" y="2823209"/>
            <a:ext cx="42062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5" name="Text 36"/>
          <p:cNvSpPr txBox="1"/>
          <p:nvPr/>
        </p:nvSpPr>
        <p:spPr>
          <a:xfrm>
            <a:off x="10290657" y="3654097"/>
            <a:ext cx="1260962" cy="43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Grad-CAM</a:t>
            </a:r>
          </a:p>
          <a:p>
            <a: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&amp; IoU</a:t>
            </a:r>
          </a:p>
        </p:txBody>
      </p:sp>
      <p:sp>
        <p:nvSpPr>
          <p:cNvPr id="96" name="Shape 38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7" name="Text 39"/>
          <p:cNvSpPr txBox="1"/>
          <p:nvPr/>
        </p:nvSpPr>
        <p:spPr>
          <a:xfrm>
            <a:off x="877820" y="6348132"/>
            <a:ext cx="5394966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  <p:sp>
        <p:nvSpPr>
          <p:cNvPr id="98" name="Text 40"/>
          <p:cNvSpPr txBox="1"/>
          <p:nvPr/>
        </p:nvSpPr>
        <p:spPr>
          <a:xfrm>
            <a:off x="10911533" y="6348132"/>
            <a:ext cx="640084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99" name="Text 6"/>
          <p:cNvSpPr txBox="1"/>
          <p:nvPr/>
        </p:nvSpPr>
        <p:spPr>
          <a:xfrm>
            <a:off x="2271366" y="3654097"/>
            <a:ext cx="1260962" cy="43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Rensa &amp;</a:t>
            </a:r>
          </a:p>
          <a:p>
            <a:pPr algn="ctr"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kontroll av datan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MODELLEN</a:t>
            </a:r>
          </a:p>
        </p:txBody>
      </p:sp>
      <p:sp>
        <p:nvSpPr>
          <p:cNvPr id="103" name="Text 2"/>
          <p:cNvSpPr txBox="1"/>
          <p:nvPr/>
        </p:nvSpPr>
        <p:spPr>
          <a:xfrm>
            <a:off x="594359" y="1154935"/>
            <a:ext cx="105156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Ett CNN för binär klassificering</a:t>
            </a:r>
          </a:p>
        </p:txBody>
      </p:sp>
      <p:sp>
        <p:nvSpPr>
          <p:cNvPr id="104" name="Shape 3"/>
          <p:cNvSpPr/>
          <p:nvPr/>
        </p:nvSpPr>
        <p:spPr>
          <a:xfrm>
            <a:off x="594358" y="2514599"/>
            <a:ext cx="1371604" cy="1554485"/>
          </a:xfrm>
          <a:prstGeom prst="rect">
            <a:avLst/>
          </a:prstGeom>
          <a:solidFill>
            <a:srgbClr val="B9C9A6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Text 4"/>
          <p:cNvSpPr txBox="1"/>
          <p:nvPr/>
        </p:nvSpPr>
        <p:spPr>
          <a:xfrm>
            <a:off x="640077" y="3096434"/>
            <a:ext cx="1280165" cy="390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b="1" sz="1100">
                <a:solidFill>
                  <a:srgbClr val="2C4327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Input</a:t>
            </a:r>
          </a:p>
          <a:p>
            <a:pPr algn="ctr">
              <a:defRPr b="1" sz="1100">
                <a:solidFill>
                  <a:srgbClr val="2C4327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640×640×3</a:t>
            </a:r>
          </a:p>
        </p:txBody>
      </p:sp>
      <p:sp>
        <p:nvSpPr>
          <p:cNvPr id="106" name="Shape 5"/>
          <p:cNvSpPr/>
          <p:nvPr/>
        </p:nvSpPr>
        <p:spPr>
          <a:xfrm>
            <a:off x="2112264" y="2514599"/>
            <a:ext cx="1051564" cy="1554485"/>
          </a:xfrm>
          <a:prstGeom prst="rect">
            <a:avLst/>
          </a:prstGeom>
          <a:solidFill>
            <a:srgbClr val="A7C083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Text 6"/>
          <p:cNvSpPr txBox="1"/>
          <p:nvPr/>
        </p:nvSpPr>
        <p:spPr>
          <a:xfrm>
            <a:off x="2157983" y="3178985"/>
            <a:ext cx="960123" cy="22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100">
                <a:solidFill>
                  <a:srgbClr val="2C432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Conv 32</a:t>
            </a:r>
          </a:p>
        </p:txBody>
      </p:sp>
      <p:sp>
        <p:nvSpPr>
          <p:cNvPr id="108" name="Shape 7"/>
          <p:cNvSpPr/>
          <p:nvPr/>
        </p:nvSpPr>
        <p:spPr>
          <a:xfrm>
            <a:off x="3310128" y="2514599"/>
            <a:ext cx="1188724" cy="1554485"/>
          </a:xfrm>
          <a:prstGeom prst="rect">
            <a:avLst/>
          </a:prstGeom>
          <a:solidFill>
            <a:srgbClr val="8BAE5D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Text 8"/>
          <p:cNvSpPr txBox="1"/>
          <p:nvPr/>
        </p:nvSpPr>
        <p:spPr>
          <a:xfrm>
            <a:off x="3355847" y="3178985"/>
            <a:ext cx="1097284" cy="22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Conv 64</a:t>
            </a:r>
          </a:p>
        </p:txBody>
      </p:sp>
      <p:sp>
        <p:nvSpPr>
          <p:cNvPr id="110" name="Shape 9"/>
          <p:cNvSpPr/>
          <p:nvPr/>
        </p:nvSpPr>
        <p:spPr>
          <a:xfrm>
            <a:off x="4645152" y="2514599"/>
            <a:ext cx="1371604" cy="1554485"/>
          </a:xfrm>
          <a:prstGeom prst="rect">
            <a:avLst/>
          </a:prstGeom>
          <a:solidFill>
            <a:srgbClr val="5E8E3E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Text 10"/>
          <p:cNvSpPr txBox="1"/>
          <p:nvPr/>
        </p:nvSpPr>
        <p:spPr>
          <a:xfrm>
            <a:off x="4690871" y="3178985"/>
            <a:ext cx="1280164" cy="22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Conv 128</a:t>
            </a:r>
          </a:p>
        </p:txBody>
      </p:sp>
      <p:sp>
        <p:nvSpPr>
          <p:cNvPr id="112" name="Shape 11"/>
          <p:cNvSpPr/>
          <p:nvPr/>
        </p:nvSpPr>
        <p:spPr>
          <a:xfrm>
            <a:off x="6163054" y="2514599"/>
            <a:ext cx="1554484" cy="1554485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Text 12"/>
          <p:cNvSpPr txBox="1"/>
          <p:nvPr/>
        </p:nvSpPr>
        <p:spPr>
          <a:xfrm>
            <a:off x="6208774" y="3178985"/>
            <a:ext cx="1463044" cy="22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Conv 256</a:t>
            </a:r>
          </a:p>
        </p:txBody>
      </p:sp>
      <p:sp>
        <p:nvSpPr>
          <p:cNvPr id="114" name="Shape 13"/>
          <p:cNvSpPr/>
          <p:nvPr/>
        </p:nvSpPr>
        <p:spPr>
          <a:xfrm>
            <a:off x="7863840" y="2514599"/>
            <a:ext cx="1188724" cy="1554485"/>
          </a:xfrm>
          <a:prstGeom prst="rect">
            <a:avLst/>
          </a:prstGeom>
          <a:solidFill>
            <a:srgbClr val="3F5E36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Text 14"/>
          <p:cNvSpPr txBox="1"/>
          <p:nvPr/>
        </p:nvSpPr>
        <p:spPr>
          <a:xfrm>
            <a:off x="7909559" y="3096434"/>
            <a:ext cx="1097284" cy="390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Global</a:t>
            </a:r>
          </a:p>
          <a:p>
            <a:pPr algn="ctr">
              <a:defRPr b="1" sz="11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MaxPool</a:t>
            </a:r>
          </a:p>
        </p:txBody>
      </p:sp>
      <p:sp>
        <p:nvSpPr>
          <p:cNvPr id="116" name="Shape 15"/>
          <p:cNvSpPr/>
          <p:nvPr/>
        </p:nvSpPr>
        <p:spPr>
          <a:xfrm>
            <a:off x="9198864" y="2514599"/>
            <a:ext cx="1280164" cy="1554485"/>
          </a:xfrm>
          <a:prstGeom prst="rect">
            <a:avLst/>
          </a:prstGeom>
          <a:solidFill>
            <a:srgbClr val="2C4327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Text 16"/>
          <p:cNvSpPr txBox="1"/>
          <p:nvPr/>
        </p:nvSpPr>
        <p:spPr>
          <a:xfrm>
            <a:off x="9244583" y="3096434"/>
            <a:ext cx="1188723" cy="390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Dense</a:t>
            </a:r>
          </a:p>
          <a:p>
            <a:pPr algn="ctr">
              <a:defRPr b="1" sz="11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256 ×2</a:t>
            </a:r>
          </a:p>
        </p:txBody>
      </p:sp>
      <p:sp>
        <p:nvSpPr>
          <p:cNvPr id="118" name="Shape 17"/>
          <p:cNvSpPr/>
          <p:nvPr/>
        </p:nvSpPr>
        <p:spPr>
          <a:xfrm>
            <a:off x="10625328" y="2514599"/>
            <a:ext cx="1097284" cy="1554485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Text 18"/>
          <p:cNvSpPr txBox="1"/>
          <p:nvPr/>
        </p:nvSpPr>
        <p:spPr>
          <a:xfrm>
            <a:off x="10671047" y="3178985"/>
            <a:ext cx="1005843" cy="22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1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Sigmoid</a:t>
            </a:r>
          </a:p>
        </p:txBody>
      </p:sp>
      <p:sp>
        <p:nvSpPr>
          <p:cNvPr id="120" name="Text 19"/>
          <p:cNvSpPr txBox="1"/>
          <p:nvPr/>
        </p:nvSpPr>
        <p:spPr>
          <a:xfrm>
            <a:off x="640077" y="4722167"/>
            <a:ext cx="2560325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120" sz="1200">
                <a:solidFill>
                  <a:schemeClr val="accent4">
                    <a:lumOff val="-9999"/>
                  </a:schemeClr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OPTIMERARE</a:t>
            </a:r>
          </a:p>
        </p:txBody>
      </p:sp>
      <p:sp>
        <p:nvSpPr>
          <p:cNvPr id="121" name="Text 20"/>
          <p:cNvSpPr txBox="1"/>
          <p:nvPr/>
        </p:nvSpPr>
        <p:spPr>
          <a:xfrm>
            <a:off x="640077" y="5071679"/>
            <a:ext cx="2560325" cy="280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AdamW · lr 1e-4</a:t>
            </a:r>
          </a:p>
        </p:txBody>
      </p:sp>
      <p:sp>
        <p:nvSpPr>
          <p:cNvPr id="122" name="Text 21"/>
          <p:cNvSpPr txBox="1"/>
          <p:nvPr/>
        </p:nvSpPr>
        <p:spPr>
          <a:xfrm>
            <a:off x="3383279" y="4722167"/>
            <a:ext cx="2560324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120" sz="1200">
                <a:solidFill>
                  <a:schemeClr val="accent4">
                    <a:lumOff val="-9999"/>
                  </a:schemeClr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LOSS</a:t>
            </a:r>
          </a:p>
        </p:txBody>
      </p:sp>
      <p:sp>
        <p:nvSpPr>
          <p:cNvPr id="123" name="Text 22"/>
          <p:cNvSpPr txBox="1"/>
          <p:nvPr/>
        </p:nvSpPr>
        <p:spPr>
          <a:xfrm>
            <a:off x="3383279" y="5071679"/>
            <a:ext cx="2560324" cy="280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Binary crossentropy</a:t>
            </a:r>
          </a:p>
        </p:txBody>
      </p:sp>
      <p:sp>
        <p:nvSpPr>
          <p:cNvPr id="124" name="Text 23"/>
          <p:cNvSpPr txBox="1"/>
          <p:nvPr/>
        </p:nvSpPr>
        <p:spPr>
          <a:xfrm>
            <a:off x="6126479" y="4722167"/>
            <a:ext cx="2560324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120" sz="1200">
                <a:solidFill>
                  <a:schemeClr val="accent4">
                    <a:lumOff val="-9999"/>
                  </a:schemeClr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REGULARISERING</a:t>
            </a:r>
          </a:p>
        </p:txBody>
      </p:sp>
      <p:sp>
        <p:nvSpPr>
          <p:cNvPr id="125" name="Text 24"/>
          <p:cNvSpPr txBox="1"/>
          <p:nvPr/>
        </p:nvSpPr>
        <p:spPr>
          <a:xfrm>
            <a:off x="6126479" y="5071679"/>
            <a:ext cx="2560324" cy="280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Dropout 0.25 · L2</a:t>
            </a:r>
          </a:p>
        </p:txBody>
      </p:sp>
      <p:sp>
        <p:nvSpPr>
          <p:cNvPr id="126" name="Text 25"/>
          <p:cNvSpPr txBox="1"/>
          <p:nvPr/>
        </p:nvSpPr>
        <p:spPr>
          <a:xfrm>
            <a:off x="8869677" y="4722167"/>
            <a:ext cx="2560324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120" sz="1200">
                <a:solidFill>
                  <a:schemeClr val="accent4">
                    <a:lumOff val="-9999"/>
                  </a:schemeClr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27" name="Text 26"/>
          <p:cNvSpPr txBox="1"/>
          <p:nvPr/>
        </p:nvSpPr>
        <p:spPr>
          <a:xfrm>
            <a:off x="8869677" y="5071679"/>
            <a:ext cx="2560324" cy="280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Sigmoid → sannolikhet</a:t>
            </a:r>
          </a:p>
        </p:txBody>
      </p:sp>
      <p:sp>
        <p:nvSpPr>
          <p:cNvPr id="128" name="Shape 27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Text 28"/>
          <p:cNvSpPr txBox="1"/>
          <p:nvPr/>
        </p:nvSpPr>
        <p:spPr>
          <a:xfrm>
            <a:off x="877820" y="6348132"/>
            <a:ext cx="5394966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  <p:sp>
        <p:nvSpPr>
          <p:cNvPr id="130" name="Text 29"/>
          <p:cNvSpPr txBox="1"/>
          <p:nvPr/>
        </p:nvSpPr>
        <p:spPr>
          <a:xfrm>
            <a:off x="10911533" y="6348132"/>
            <a:ext cx="640084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ounded Rectangle"/>
          <p:cNvSpPr/>
          <p:nvPr/>
        </p:nvSpPr>
        <p:spPr>
          <a:xfrm>
            <a:off x="439815" y="2207936"/>
            <a:ext cx="4831562" cy="4070749"/>
          </a:xfrm>
          <a:prstGeom prst="roundRect">
            <a:avLst>
              <a:gd name="adj" fmla="val 4680"/>
            </a:avLst>
          </a:prstGeom>
          <a:solidFill>
            <a:srgbClr val="000000"/>
          </a:solidFill>
          <a:ln w="25400">
            <a:solidFill>
              <a:srgbClr val="000000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135" name="Screenshot 2026-06-04 at 07.44.00.png"/>
          <p:cNvGrpSpPr/>
          <p:nvPr/>
        </p:nvGrpSpPr>
        <p:grpSpPr>
          <a:xfrm>
            <a:off x="5360789" y="85371"/>
            <a:ext cx="6729051" cy="6501589"/>
            <a:chOff x="0" y="0"/>
            <a:chExt cx="6729050" cy="6501587"/>
          </a:xfrm>
        </p:grpSpPr>
        <p:pic>
          <p:nvPicPr>
            <p:cNvPr id="133" name="Screenshot 2026-06-04 at 07.44.00.png" descr="Screenshot 2026-06-04 at 07.44.00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0799" y="50799"/>
              <a:ext cx="6627451" cy="63999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4" name="Screenshot 2026-06-04 at 07.44.00.png" descr="Screenshot 2026-06-04 at 07.44.00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6729051" cy="65015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6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7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STRUKTUR</a:t>
            </a:r>
          </a:p>
        </p:txBody>
      </p:sp>
      <p:sp>
        <p:nvSpPr>
          <p:cNvPr id="138" name="Text 2"/>
          <p:cNvSpPr txBox="1"/>
          <p:nvPr/>
        </p:nvSpPr>
        <p:spPr>
          <a:xfrm>
            <a:off x="581659" y="1154935"/>
            <a:ext cx="105156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Modellstruktur</a:t>
            </a:r>
          </a:p>
        </p:txBody>
      </p:sp>
      <p:sp>
        <p:nvSpPr>
          <p:cNvPr id="139" name="Text 16"/>
          <p:cNvSpPr txBox="1"/>
          <p:nvPr/>
        </p:nvSpPr>
        <p:spPr>
          <a:xfrm>
            <a:off x="-104859" y="1800347"/>
            <a:ext cx="5577845" cy="38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1 304 097 träningsbara parametrar!</a:t>
            </a:r>
          </a:p>
        </p:txBody>
      </p:sp>
      <p:sp>
        <p:nvSpPr>
          <p:cNvPr id="140" name="Text 16"/>
          <p:cNvSpPr txBox="1"/>
          <p:nvPr/>
        </p:nvSpPr>
        <p:spPr>
          <a:xfrm>
            <a:off x="616664" y="2868932"/>
            <a:ext cx="5577845" cy="81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CNN_CONV_FILTERS</a:t>
            </a:r>
            <a:r>
              <a:rPr>
                <a:solidFill>
                  <a:srgbClr val="D4D4D4"/>
                </a:solidFill>
              </a:rPr>
              <a:t> = [</a:t>
            </a:r>
            <a:r>
              <a:rPr>
                <a:solidFill>
                  <a:srgbClr val="B5CEA8"/>
                </a:solidFill>
              </a:rPr>
              <a:t>32</a:t>
            </a:r>
            <a:r>
              <a:rPr>
                <a:solidFill>
                  <a:srgbClr val="D4D4D4"/>
                </a:solidFill>
              </a:rPr>
              <a:t>, </a:t>
            </a:r>
            <a:r>
              <a:rPr>
                <a:solidFill>
                  <a:srgbClr val="B5CEA8"/>
                </a:solidFill>
              </a:rPr>
              <a:t>64</a:t>
            </a:r>
            <a:r>
              <a:rPr>
                <a:solidFill>
                  <a:srgbClr val="D4D4D4"/>
                </a:solidFill>
              </a:rPr>
              <a:t>, </a:t>
            </a:r>
            <a:r>
              <a:rPr>
                <a:solidFill>
                  <a:srgbClr val="B5CEA8"/>
                </a:solidFill>
              </a:rPr>
              <a:t>128</a:t>
            </a:r>
            <a:r>
              <a:rPr>
                <a:solidFill>
                  <a:srgbClr val="D4D4D4"/>
                </a:solidFill>
              </a:rPr>
              <a:t>, </a:t>
            </a:r>
            <a:r>
              <a:rPr>
                <a:solidFill>
                  <a:srgbClr val="B5CEA8"/>
                </a:solidFill>
              </a:rPr>
              <a:t>256</a:t>
            </a:r>
            <a:r>
              <a:rPr>
                <a:solidFill>
                  <a:srgbClr val="D4D4D4"/>
                </a:solidFill>
              </a:rPr>
              <a:t>]</a:t>
            </a:r>
            <a:endParaRPr>
              <a:solidFill>
                <a:srgbClr val="D4D4D4"/>
              </a:solidFill>
            </a:endParaRPr>
          </a:p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CNN_DENSE_UNITS</a:t>
            </a:r>
            <a:r>
              <a:rPr>
                <a:solidFill>
                  <a:srgbClr val="D4D4D4"/>
                </a:solidFill>
              </a:rPr>
              <a:t> = [</a:t>
            </a:r>
            <a:r>
              <a:rPr>
                <a:solidFill>
                  <a:srgbClr val="B5CEA8"/>
                </a:solidFill>
              </a:rPr>
              <a:t>256</a:t>
            </a:r>
            <a:r>
              <a:rPr>
                <a:solidFill>
                  <a:srgbClr val="D4D4D4"/>
                </a:solidFill>
              </a:rPr>
              <a:t>, </a:t>
            </a:r>
            <a:r>
              <a:rPr>
                <a:solidFill>
                  <a:srgbClr val="B5CEA8"/>
                </a:solidFill>
              </a:rPr>
              <a:t>256</a:t>
            </a:r>
            <a:r>
              <a:rPr>
                <a:solidFill>
                  <a:srgbClr val="D4D4D4"/>
                </a:solidFill>
              </a:rPr>
              <a:t>]</a:t>
            </a:r>
            <a:endParaRPr>
              <a:solidFill>
                <a:srgbClr val="D4D4D4"/>
              </a:solidFill>
            </a:endParaRPr>
          </a:p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CNN_DROPOUT_RATE</a:t>
            </a:r>
            <a:r>
              <a:rPr>
                <a:solidFill>
                  <a:srgbClr val="D4D4D4"/>
                </a:solidFill>
              </a:rPr>
              <a:t> = </a:t>
            </a:r>
            <a:r>
              <a:rPr>
                <a:solidFill>
                  <a:srgbClr val="B5CEA8"/>
                </a:solidFill>
              </a:rPr>
              <a:t>0.25</a:t>
            </a:r>
          </a:p>
        </p:txBody>
      </p:sp>
      <p:sp>
        <p:nvSpPr>
          <p:cNvPr id="141" name="Text 16"/>
          <p:cNvSpPr txBox="1"/>
          <p:nvPr/>
        </p:nvSpPr>
        <p:spPr>
          <a:xfrm>
            <a:off x="616664" y="4247746"/>
            <a:ext cx="5577845" cy="1780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USE_DATA_AUGMENTATION</a:t>
            </a:r>
            <a:r>
              <a:rPr>
                <a:solidFill>
                  <a:srgbClr val="D4D4D4"/>
                </a:solidFill>
              </a:rPr>
              <a:t> = </a:t>
            </a:r>
            <a:r>
              <a:t>True</a:t>
            </a:r>
            <a:endParaRPr>
              <a:solidFill>
                <a:srgbClr val="D4D4D4"/>
              </a:solidFill>
            </a:endParaRPr>
          </a:p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AUGMENT_HORIZONTAL_FLIP</a:t>
            </a:r>
            <a:r>
              <a:rPr>
                <a:solidFill>
                  <a:srgbClr val="D4D4D4"/>
                </a:solidFill>
              </a:rPr>
              <a:t> = </a:t>
            </a:r>
            <a:r>
              <a:t>True</a:t>
            </a:r>
            <a:endParaRPr>
              <a:solidFill>
                <a:srgbClr val="D4D4D4"/>
              </a:solidFill>
            </a:endParaRPr>
          </a:p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AUGMENT_ROTATION_FACTOR</a:t>
            </a:r>
            <a:r>
              <a:rPr>
                <a:solidFill>
                  <a:srgbClr val="D4D4D4"/>
                </a:solidFill>
              </a:rPr>
              <a:t> = </a:t>
            </a:r>
            <a:r>
              <a:rPr>
                <a:solidFill>
                  <a:srgbClr val="B5CEA8"/>
                </a:solidFill>
              </a:rPr>
              <a:t>0.05</a:t>
            </a:r>
            <a:endParaRPr>
              <a:solidFill>
                <a:srgbClr val="D4D4D4"/>
              </a:solidFill>
            </a:endParaRPr>
          </a:p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AUGMENT_CONTRAST_FACTOR</a:t>
            </a:r>
            <a:r>
              <a:rPr>
                <a:solidFill>
                  <a:srgbClr val="D4D4D4"/>
                </a:solidFill>
              </a:rPr>
              <a:t> = </a:t>
            </a:r>
            <a:r>
              <a:rPr>
                <a:solidFill>
                  <a:srgbClr val="B5CEA8"/>
                </a:solidFill>
              </a:rPr>
              <a:t>0.10</a:t>
            </a:r>
            <a:endParaRPr>
              <a:solidFill>
                <a:srgbClr val="D4D4D4"/>
              </a:solidFill>
            </a:endParaRPr>
          </a:p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AUGMENT_BRIGHTNESS_FACTOR</a:t>
            </a:r>
            <a:r>
              <a:rPr>
                <a:solidFill>
                  <a:srgbClr val="D4D4D4"/>
                </a:solidFill>
              </a:rPr>
              <a:t> = </a:t>
            </a:r>
            <a:r>
              <a:rPr>
                <a:solidFill>
                  <a:srgbClr val="B5CEA8"/>
                </a:solidFill>
              </a:rPr>
              <a:t>0.20</a:t>
            </a:r>
            <a:endParaRPr>
              <a:solidFill>
                <a:srgbClr val="D4D4D4"/>
              </a:solidFill>
            </a:endParaRPr>
          </a:p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AUGMENT_HUE_FACTOR</a:t>
            </a:r>
            <a:r>
              <a:rPr>
                <a:solidFill>
                  <a:srgbClr val="D4D4D4"/>
                </a:solidFill>
              </a:rPr>
              <a:t> = </a:t>
            </a:r>
            <a:r>
              <a:rPr>
                <a:solidFill>
                  <a:srgbClr val="B5CEA8"/>
                </a:solidFill>
              </a:rPr>
              <a:t>0.03</a:t>
            </a:r>
            <a:endParaRPr>
              <a:solidFill>
                <a:srgbClr val="D4D4D4"/>
              </a:solidFill>
            </a:endParaRPr>
          </a:p>
          <a:p>
            <a:pPr defTabSz="457200">
              <a:defRPr sz="1600">
                <a:solidFill>
                  <a:srgbClr val="4FC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AUGMENT_SATURATION_FACTOR</a:t>
            </a:r>
            <a:r>
              <a:rPr>
                <a:solidFill>
                  <a:srgbClr val="D4D4D4"/>
                </a:solidFill>
              </a:rPr>
              <a:t> = </a:t>
            </a:r>
            <a:r>
              <a:rPr>
                <a:solidFill>
                  <a:srgbClr val="B5CEA8"/>
                </a:solidFill>
              </a:rPr>
              <a:t>0.50</a:t>
            </a:r>
          </a:p>
        </p:txBody>
      </p:sp>
      <p:sp>
        <p:nvSpPr>
          <p:cNvPr id="142" name="Text 10"/>
          <p:cNvSpPr txBox="1"/>
          <p:nvPr/>
        </p:nvSpPr>
        <p:spPr>
          <a:xfrm>
            <a:off x="639107" y="2467244"/>
            <a:ext cx="5029205" cy="277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D7B95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Filter, lager och dropout</a:t>
            </a:r>
          </a:p>
        </p:txBody>
      </p:sp>
      <p:sp>
        <p:nvSpPr>
          <p:cNvPr id="143" name="Text 10"/>
          <p:cNvSpPr txBox="1"/>
          <p:nvPr/>
        </p:nvSpPr>
        <p:spPr>
          <a:xfrm>
            <a:off x="639107" y="3846059"/>
            <a:ext cx="5029205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D6B85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Dataaugmentering</a:t>
            </a:r>
          </a:p>
        </p:txBody>
      </p:sp>
      <p:sp>
        <p:nvSpPr>
          <p:cNvPr id="144" name="Shape 27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5" name="Text 28"/>
          <p:cNvSpPr txBox="1"/>
          <p:nvPr/>
        </p:nvSpPr>
        <p:spPr>
          <a:xfrm>
            <a:off x="877820" y="6348133"/>
            <a:ext cx="5394966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8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TRÄNING</a:t>
            </a:r>
          </a:p>
        </p:txBody>
      </p:sp>
      <p:sp>
        <p:nvSpPr>
          <p:cNvPr id="149" name="Text 2"/>
          <p:cNvSpPr txBox="1"/>
          <p:nvPr/>
        </p:nvSpPr>
        <p:spPr>
          <a:xfrm>
            <a:off x="594356" y="1066035"/>
            <a:ext cx="640080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Balanserad och övervakad</a:t>
            </a:r>
          </a:p>
        </p:txBody>
      </p:sp>
      <p:sp>
        <p:nvSpPr>
          <p:cNvPr id="150" name="Text 4"/>
          <p:cNvSpPr txBox="1"/>
          <p:nvPr/>
        </p:nvSpPr>
        <p:spPr>
          <a:xfrm>
            <a:off x="6345679" y="5010827"/>
            <a:ext cx="5029206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Augmentering</a:t>
            </a:r>
          </a:p>
        </p:txBody>
      </p:sp>
      <p:sp>
        <p:nvSpPr>
          <p:cNvPr id="151" name="Text 5"/>
          <p:cNvSpPr txBox="1"/>
          <p:nvPr/>
        </p:nvSpPr>
        <p:spPr>
          <a:xfrm>
            <a:off x="6345679" y="5300702"/>
            <a:ext cx="5029206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Flip, lätt rotation, ljus, kontrast och färg — bara på träningsdata.</a:t>
            </a:r>
          </a:p>
        </p:txBody>
      </p:sp>
      <p:sp>
        <p:nvSpPr>
          <p:cNvPr id="152" name="Text 7"/>
          <p:cNvSpPr txBox="1"/>
          <p:nvPr/>
        </p:nvSpPr>
        <p:spPr>
          <a:xfrm>
            <a:off x="6345679" y="5565871"/>
            <a:ext cx="5029206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Class weights</a:t>
            </a:r>
          </a:p>
        </p:txBody>
      </p:sp>
      <p:sp>
        <p:nvSpPr>
          <p:cNvPr id="153" name="Text 8"/>
          <p:cNvSpPr txBox="1"/>
          <p:nvPr/>
        </p:nvSpPr>
        <p:spPr>
          <a:xfrm>
            <a:off x="6345679" y="5855746"/>
            <a:ext cx="5029206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Läge balanced lyfter den mindre klassen (ingen människa).</a:t>
            </a:r>
          </a:p>
        </p:txBody>
      </p:sp>
      <p:sp>
        <p:nvSpPr>
          <p:cNvPr id="154" name="Text 10"/>
          <p:cNvSpPr txBox="1"/>
          <p:nvPr/>
        </p:nvSpPr>
        <p:spPr>
          <a:xfrm>
            <a:off x="1115313" y="4988512"/>
            <a:ext cx="5029202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EarlyStopping</a:t>
            </a:r>
          </a:p>
        </p:txBody>
      </p:sp>
      <p:sp>
        <p:nvSpPr>
          <p:cNvPr id="155" name="Text 11"/>
          <p:cNvSpPr txBox="1"/>
          <p:nvPr/>
        </p:nvSpPr>
        <p:spPr>
          <a:xfrm>
            <a:off x="1115313" y="5281676"/>
            <a:ext cx="5029202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Bevakar val_loss, återställer bästa vikterna.</a:t>
            </a:r>
          </a:p>
        </p:txBody>
      </p:sp>
      <p:sp>
        <p:nvSpPr>
          <p:cNvPr id="156" name="Shape 12"/>
          <p:cNvSpPr/>
          <p:nvPr/>
        </p:nvSpPr>
        <p:spPr>
          <a:xfrm>
            <a:off x="804416" y="4979589"/>
            <a:ext cx="91444" cy="1143004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" name="Text 13"/>
          <p:cNvSpPr txBox="1"/>
          <p:nvPr/>
        </p:nvSpPr>
        <p:spPr>
          <a:xfrm>
            <a:off x="1106169" y="5567745"/>
            <a:ext cx="5029202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ReduceLROnPlateau</a:t>
            </a:r>
          </a:p>
        </p:txBody>
      </p:sp>
      <p:sp>
        <p:nvSpPr>
          <p:cNvPr id="158" name="Text 14"/>
          <p:cNvSpPr txBox="1"/>
          <p:nvPr/>
        </p:nvSpPr>
        <p:spPr>
          <a:xfrm>
            <a:off x="1106169" y="5858107"/>
            <a:ext cx="5029202" cy="248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Sänker learning rate när valideringen planar ut.</a:t>
            </a:r>
          </a:p>
        </p:txBody>
      </p:sp>
      <p:sp>
        <p:nvSpPr>
          <p:cNvPr id="159" name="Shape 15"/>
          <p:cNvSpPr/>
          <p:nvPr/>
        </p:nvSpPr>
        <p:spPr>
          <a:xfrm>
            <a:off x="900653" y="1640955"/>
            <a:ext cx="10377994" cy="31089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" name="Text 16"/>
          <p:cNvSpPr txBox="1"/>
          <p:nvPr/>
        </p:nvSpPr>
        <p:spPr>
          <a:xfrm>
            <a:off x="1040022" y="1751756"/>
            <a:ext cx="5029206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Träningshistorik – loss &amp; accuracy per epoch</a:t>
            </a:r>
          </a:p>
        </p:txBody>
      </p:sp>
      <p:sp>
        <p:nvSpPr>
          <p:cNvPr id="161" name="Shape 17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" name="Text 18"/>
          <p:cNvSpPr txBox="1"/>
          <p:nvPr/>
        </p:nvSpPr>
        <p:spPr>
          <a:xfrm>
            <a:off x="877820" y="6348133"/>
            <a:ext cx="5394966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  <p:sp>
        <p:nvSpPr>
          <p:cNvPr id="163" name="Text 19"/>
          <p:cNvSpPr txBox="1"/>
          <p:nvPr/>
        </p:nvSpPr>
        <p:spPr>
          <a:xfrm>
            <a:off x="10911533" y="6348133"/>
            <a:ext cx="640084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06</a:t>
            </a:r>
          </a:p>
        </p:txBody>
      </p:sp>
      <p:pic>
        <p:nvPicPr>
          <p:cNvPr id="164" name="training_history.png" descr="training_history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8973" y="2074408"/>
            <a:ext cx="10161353" cy="2642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Shape 12"/>
          <p:cNvSpPr/>
          <p:nvPr/>
        </p:nvSpPr>
        <p:spPr>
          <a:xfrm>
            <a:off x="6053073" y="4979589"/>
            <a:ext cx="91444" cy="1143004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RESULTAT</a:t>
            </a:r>
          </a:p>
        </p:txBody>
      </p:sp>
      <p:sp>
        <p:nvSpPr>
          <p:cNvPr id="169" name="Text 2"/>
          <p:cNvSpPr txBox="1"/>
          <p:nvPr/>
        </p:nvSpPr>
        <p:spPr>
          <a:xfrm>
            <a:off x="594359" y="1154935"/>
            <a:ext cx="73152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Hittar de flesta människorna</a:t>
            </a:r>
          </a:p>
        </p:txBody>
      </p:sp>
      <p:sp>
        <p:nvSpPr>
          <p:cNvPr id="170" name="Shape 3"/>
          <p:cNvSpPr/>
          <p:nvPr/>
        </p:nvSpPr>
        <p:spPr>
          <a:xfrm>
            <a:off x="594359" y="1874520"/>
            <a:ext cx="2057402" cy="1417324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" name="Text 4"/>
          <p:cNvSpPr txBox="1"/>
          <p:nvPr/>
        </p:nvSpPr>
        <p:spPr>
          <a:xfrm>
            <a:off x="640078" y="2100577"/>
            <a:ext cx="1965963" cy="59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3400">
                <a:solidFill>
                  <a:srgbClr val="E7C14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90 %</a:t>
            </a:r>
          </a:p>
        </p:txBody>
      </p:sp>
      <p:sp>
        <p:nvSpPr>
          <p:cNvPr id="172" name="Text 5"/>
          <p:cNvSpPr txBox="1"/>
          <p:nvPr/>
        </p:nvSpPr>
        <p:spPr>
          <a:xfrm>
            <a:off x="640078" y="2870505"/>
            <a:ext cx="1965963" cy="248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6EED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träffsäkerhet</a:t>
            </a:r>
          </a:p>
        </p:txBody>
      </p:sp>
      <p:sp>
        <p:nvSpPr>
          <p:cNvPr id="173" name="Shape 6"/>
          <p:cNvSpPr/>
          <p:nvPr/>
        </p:nvSpPr>
        <p:spPr>
          <a:xfrm>
            <a:off x="2834639" y="1874520"/>
            <a:ext cx="2057401" cy="1417324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" name="Text 7"/>
          <p:cNvSpPr txBox="1"/>
          <p:nvPr/>
        </p:nvSpPr>
        <p:spPr>
          <a:xfrm>
            <a:off x="2880359" y="2100577"/>
            <a:ext cx="1965964" cy="59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3400">
                <a:solidFill>
                  <a:srgbClr val="E7C14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91 %</a:t>
            </a:r>
          </a:p>
        </p:txBody>
      </p:sp>
      <p:sp>
        <p:nvSpPr>
          <p:cNvPr id="175" name="Text 8"/>
          <p:cNvSpPr txBox="1"/>
          <p:nvPr/>
        </p:nvSpPr>
        <p:spPr>
          <a:xfrm>
            <a:off x="2880359" y="2870505"/>
            <a:ext cx="1965964" cy="248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6EED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recall, human</a:t>
            </a:r>
          </a:p>
        </p:txBody>
      </p:sp>
      <p:sp>
        <p:nvSpPr>
          <p:cNvPr id="176" name="Shape 9"/>
          <p:cNvSpPr/>
          <p:nvPr/>
        </p:nvSpPr>
        <p:spPr>
          <a:xfrm>
            <a:off x="5074920" y="1874520"/>
            <a:ext cx="2057403" cy="1417324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" name="Text 10"/>
          <p:cNvSpPr txBox="1"/>
          <p:nvPr/>
        </p:nvSpPr>
        <p:spPr>
          <a:xfrm>
            <a:off x="5120640" y="2100577"/>
            <a:ext cx="1965964" cy="59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3400">
                <a:solidFill>
                  <a:srgbClr val="E7C14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97 %</a:t>
            </a:r>
          </a:p>
        </p:txBody>
      </p:sp>
      <p:sp>
        <p:nvSpPr>
          <p:cNvPr id="178" name="Text 11"/>
          <p:cNvSpPr txBox="1"/>
          <p:nvPr/>
        </p:nvSpPr>
        <p:spPr>
          <a:xfrm>
            <a:off x="5120640" y="2870505"/>
            <a:ext cx="1965964" cy="248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6EED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precision, human</a:t>
            </a:r>
          </a:p>
        </p:txBody>
      </p:sp>
      <p:graphicFrame>
        <p:nvGraphicFramePr>
          <p:cNvPr id="179" name="Table 0"/>
          <p:cNvGraphicFramePr/>
          <p:nvPr/>
        </p:nvGraphicFramePr>
        <p:xfrm>
          <a:off x="594359" y="3657600"/>
          <a:ext cx="6400802" cy="196596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4592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2A20"/>
                          </a:solidFill>
                        </a:rPr>
                        <a:t> no human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EC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C2A20"/>
                          </a:solidFill>
                        </a:rPr>
                        <a:t>0.61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C2A20"/>
                          </a:solidFill>
                        </a:rPr>
                        <a:t>0.81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C2A20"/>
                          </a:solidFill>
                        </a:rPr>
                        <a:t>0.70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C2A20"/>
                          </a:solidFill>
                        </a:rPr>
                        <a:t>84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2A20"/>
                          </a:solidFill>
                        </a:rPr>
                        <a:t> human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ECE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C2A20"/>
                          </a:solidFill>
                        </a:rPr>
                        <a:t>0.97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C2A20"/>
                          </a:solidFill>
                        </a:rPr>
                        <a:t>0.91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C2A20"/>
                          </a:solidFill>
                        </a:rPr>
                        <a:t>0.94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C2A20"/>
                          </a:solidFill>
                        </a:rPr>
                        <a:t>486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2A20"/>
                          </a:solidFill>
                        </a:rPr>
                        <a:t> accuracy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ECEFE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1C2A20"/>
                          </a:solidFill>
                        </a:rPr>
                        <a:t>0.90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1C2A20"/>
                          </a:solidFill>
                        </a:rPr>
                        <a:t>570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AD6C8"/>
                      </a:solidFill>
                    </a:lnL>
                    <a:lnR w="12700">
                      <a:solidFill>
                        <a:srgbClr val="DAD6C8"/>
                      </a:solidFill>
                    </a:lnR>
                    <a:lnT w="12700">
                      <a:solidFill>
                        <a:srgbClr val="DAD6C8"/>
                      </a:solidFill>
                    </a:lnT>
                    <a:lnB w="12700">
                      <a:solidFill>
                        <a:srgbClr val="DAD6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Shape 12"/>
          <p:cNvSpPr/>
          <p:nvPr/>
        </p:nvSpPr>
        <p:spPr>
          <a:xfrm>
            <a:off x="7406640" y="1874518"/>
            <a:ext cx="4160521" cy="38862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1" name="Text 13"/>
          <p:cNvSpPr txBox="1"/>
          <p:nvPr/>
        </p:nvSpPr>
        <p:spPr>
          <a:xfrm>
            <a:off x="7635239" y="2029260"/>
            <a:ext cx="3703321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200">
                <a:solidFill>
                  <a:srgbClr val="1C2A2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Confusion matrix (testdata)</a:t>
            </a:r>
          </a:p>
        </p:txBody>
      </p:sp>
      <p:pic>
        <p:nvPicPr>
          <p:cNvPr id="18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40484" y="2257549"/>
            <a:ext cx="3423757" cy="3374140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Shape 14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Text 15"/>
          <p:cNvSpPr txBox="1"/>
          <p:nvPr/>
        </p:nvSpPr>
        <p:spPr>
          <a:xfrm>
            <a:off x="877820" y="6348133"/>
            <a:ext cx="5394966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  <p:sp>
        <p:nvSpPr>
          <p:cNvPr id="185" name="Text 16"/>
          <p:cNvSpPr txBox="1"/>
          <p:nvPr/>
        </p:nvSpPr>
        <p:spPr>
          <a:xfrm>
            <a:off x="10911533" y="6348133"/>
            <a:ext cx="640084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6" name="443"/>
          <p:cNvSpPr txBox="1"/>
          <p:nvPr/>
        </p:nvSpPr>
        <p:spPr>
          <a:xfrm>
            <a:off x="9799077" y="4336096"/>
            <a:ext cx="297241" cy="22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443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2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9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E7C14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FÖRKLARBARHET</a:t>
            </a:r>
          </a:p>
        </p:txBody>
      </p:sp>
      <p:sp>
        <p:nvSpPr>
          <p:cNvPr id="190" name="Text 2"/>
          <p:cNvSpPr txBox="1"/>
          <p:nvPr/>
        </p:nvSpPr>
        <p:spPr>
          <a:xfrm>
            <a:off x="594359" y="1135885"/>
            <a:ext cx="82296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Var tittar modellen?</a:t>
            </a:r>
          </a:p>
        </p:txBody>
      </p:sp>
      <p:sp>
        <p:nvSpPr>
          <p:cNvPr id="191" name="Shape 3"/>
          <p:cNvSpPr/>
          <p:nvPr/>
        </p:nvSpPr>
        <p:spPr>
          <a:xfrm>
            <a:off x="594360" y="1874520"/>
            <a:ext cx="8229601" cy="27432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2" name="Text 4"/>
          <p:cNvSpPr txBox="1"/>
          <p:nvPr/>
        </p:nvSpPr>
        <p:spPr>
          <a:xfrm>
            <a:off x="640078" y="4762937"/>
            <a:ext cx="6309363" cy="25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300">
                <a:solidFill>
                  <a:srgbClr val="7BD17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grön</a:t>
            </a:r>
            <a:r>
              <a:rPr b="0">
                <a:solidFill>
                  <a:srgbClr val="C9D6C5"/>
                </a:solidFill>
              </a:rPr>
              <a:t> = facit (YOLO)    </a:t>
            </a:r>
            <a:r>
              <a:rPr>
                <a:solidFill>
                  <a:srgbClr val="F08A7A"/>
                </a:solidFill>
              </a:rPr>
              <a:t>röd</a:t>
            </a:r>
            <a:r>
              <a:rPr b="0">
                <a:solidFill>
                  <a:srgbClr val="C9D6C5"/>
                </a:solidFill>
              </a:rPr>
              <a:t> = Grad-CAM-box</a:t>
            </a:r>
          </a:p>
        </p:txBody>
      </p:sp>
      <p:sp>
        <p:nvSpPr>
          <p:cNvPr id="193" name="Text 5"/>
          <p:cNvSpPr txBox="1"/>
          <p:nvPr/>
        </p:nvSpPr>
        <p:spPr>
          <a:xfrm>
            <a:off x="9098549" y="1849797"/>
            <a:ext cx="1737364" cy="535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E7C14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0.15</a:t>
            </a:r>
          </a:p>
        </p:txBody>
      </p:sp>
      <p:sp>
        <p:nvSpPr>
          <p:cNvPr id="194" name="Text 6"/>
          <p:cNvSpPr txBox="1"/>
          <p:nvPr/>
        </p:nvSpPr>
        <p:spPr>
          <a:xfrm>
            <a:off x="9098549" y="2517731"/>
            <a:ext cx="1737364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pc="100" sz="900">
                <a:solidFill>
                  <a:srgbClr val="9BB89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MEDEL-IOU</a:t>
            </a:r>
          </a:p>
        </p:txBody>
      </p:sp>
      <p:sp>
        <p:nvSpPr>
          <p:cNvPr id="195" name="Text 7"/>
          <p:cNvSpPr txBox="1"/>
          <p:nvPr/>
        </p:nvSpPr>
        <p:spPr>
          <a:xfrm>
            <a:off x="9098549" y="2992077"/>
            <a:ext cx="1737364" cy="535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E7C14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15 %</a:t>
            </a:r>
          </a:p>
        </p:txBody>
      </p:sp>
      <p:sp>
        <p:nvSpPr>
          <p:cNvPr id="196" name="Text 8"/>
          <p:cNvSpPr txBox="1"/>
          <p:nvPr/>
        </p:nvSpPr>
        <p:spPr>
          <a:xfrm>
            <a:off x="9098549" y="3660009"/>
            <a:ext cx="1737364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pc="100" sz="900">
                <a:solidFill>
                  <a:srgbClr val="9BB89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LOKALISERADE (IOU ≥ 0.30)</a:t>
            </a:r>
          </a:p>
        </p:txBody>
      </p:sp>
      <p:sp>
        <p:nvSpPr>
          <p:cNvPr id="197" name="Text 9"/>
          <p:cNvSpPr txBox="1"/>
          <p:nvPr/>
        </p:nvSpPr>
        <p:spPr>
          <a:xfrm>
            <a:off x="640078" y="5212079"/>
            <a:ext cx="6858004" cy="478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10000"/>
              </a:lnSpc>
              <a:defRPr sz="1300">
                <a:solidFill>
                  <a:srgbClr val="D7E2D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Modellen avgör säkert OM en människa finns, men pekar inte alltid ut exakt VAR — och aktiverar ibland på fordon.</a:t>
            </a:r>
          </a:p>
        </p:txBody>
      </p:sp>
      <p:sp>
        <p:nvSpPr>
          <p:cNvPr id="198" name="Shape 10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9" name="Text 11"/>
          <p:cNvSpPr txBox="1"/>
          <p:nvPr/>
        </p:nvSpPr>
        <p:spPr>
          <a:xfrm>
            <a:off x="877820" y="6348133"/>
            <a:ext cx="5394966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9BB89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  <p:sp>
        <p:nvSpPr>
          <p:cNvPr id="200" name="Text 12"/>
          <p:cNvSpPr txBox="1"/>
          <p:nvPr/>
        </p:nvSpPr>
        <p:spPr>
          <a:xfrm>
            <a:off x="10911533" y="6348133"/>
            <a:ext cx="640084" cy="205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9BB89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08</a:t>
            </a:r>
          </a:p>
        </p:txBody>
      </p:sp>
      <p:pic>
        <p:nvPicPr>
          <p:cNvPr id="201" name="grad_cam_sample_5.png" descr="grad_cam_sample_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2930" y="1901949"/>
            <a:ext cx="7372461" cy="25472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4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2C5F2D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UTFORSKAT</a:t>
            </a:r>
          </a:p>
        </p:txBody>
      </p:sp>
      <p:sp>
        <p:nvSpPr>
          <p:cNvPr id="205" name="Text 2"/>
          <p:cNvSpPr txBox="1"/>
          <p:nvPr/>
        </p:nvSpPr>
        <p:spPr>
          <a:xfrm>
            <a:off x="594359" y="1154938"/>
            <a:ext cx="10058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Andra spår vi testat</a:t>
            </a:r>
          </a:p>
        </p:txBody>
      </p:sp>
      <p:sp>
        <p:nvSpPr>
          <p:cNvPr id="206" name="Shape 3"/>
          <p:cNvSpPr/>
          <p:nvPr/>
        </p:nvSpPr>
        <p:spPr>
          <a:xfrm>
            <a:off x="594356" y="1828800"/>
            <a:ext cx="3423825" cy="3749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7" name="Shape 4"/>
          <p:cNvSpPr/>
          <p:nvPr/>
        </p:nvSpPr>
        <p:spPr>
          <a:xfrm>
            <a:off x="594356" y="1828800"/>
            <a:ext cx="3423825" cy="10972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8" name="Text 5"/>
          <p:cNvSpPr txBox="1"/>
          <p:nvPr/>
        </p:nvSpPr>
        <p:spPr>
          <a:xfrm>
            <a:off x="914400" y="2148838"/>
            <a:ext cx="2783739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900">
                <a:solidFill>
                  <a:srgbClr val="2C5F2D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Koordinater</a:t>
            </a:r>
          </a:p>
          <a:p>
            <a:pPr>
              <a:defRPr b="1" sz="1900">
                <a:solidFill>
                  <a:srgbClr val="2C5F2D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(multi-task)</a:t>
            </a:r>
          </a:p>
        </p:txBody>
      </p:sp>
      <p:sp>
        <p:nvSpPr>
          <p:cNvPr id="209" name="Text 6"/>
          <p:cNvSpPr txBox="1"/>
          <p:nvPr/>
        </p:nvSpPr>
        <p:spPr>
          <a:xfrm>
            <a:off x="914400" y="3176270"/>
            <a:ext cx="2783739" cy="688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40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93 %</a:t>
            </a:r>
          </a:p>
        </p:txBody>
      </p:sp>
      <p:sp>
        <p:nvSpPr>
          <p:cNvPr id="210" name="Text 7"/>
          <p:cNvSpPr txBox="1"/>
          <p:nvPr/>
        </p:nvSpPr>
        <p:spPr>
          <a:xfrm>
            <a:off x="914400" y="4036367"/>
            <a:ext cx="2783739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human (marginell vinst)</a:t>
            </a:r>
          </a:p>
        </p:txBody>
      </p:sp>
      <p:sp>
        <p:nvSpPr>
          <p:cNvPr id="211" name="Text 8"/>
          <p:cNvSpPr txBox="1"/>
          <p:nvPr/>
        </p:nvSpPr>
        <p:spPr>
          <a:xfrm>
            <a:off x="914400" y="4526279"/>
            <a:ext cx="2783739" cy="454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55624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Bounding box som facit tvingade modellen att se objektet bättre.</a:t>
            </a:r>
          </a:p>
        </p:txBody>
      </p:sp>
      <p:sp>
        <p:nvSpPr>
          <p:cNvPr id="212" name="Shape 9"/>
          <p:cNvSpPr/>
          <p:nvPr/>
        </p:nvSpPr>
        <p:spPr>
          <a:xfrm>
            <a:off x="4383937" y="1828800"/>
            <a:ext cx="3423821" cy="3749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Shape 10"/>
          <p:cNvSpPr/>
          <p:nvPr/>
        </p:nvSpPr>
        <p:spPr>
          <a:xfrm>
            <a:off x="4383937" y="1828800"/>
            <a:ext cx="3423821" cy="10972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" name="Text 11"/>
          <p:cNvSpPr txBox="1"/>
          <p:nvPr/>
        </p:nvSpPr>
        <p:spPr>
          <a:xfrm>
            <a:off x="4703974" y="2148838"/>
            <a:ext cx="2783744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900">
                <a:solidFill>
                  <a:srgbClr val="2C5F2D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Focal Loss</a:t>
            </a:r>
          </a:p>
          <a:p>
            <a:pPr>
              <a:defRPr b="1" sz="1900">
                <a:solidFill>
                  <a:srgbClr val="2C5F2D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+ tröskel</a:t>
            </a:r>
          </a:p>
        </p:txBody>
      </p:sp>
      <p:sp>
        <p:nvSpPr>
          <p:cNvPr id="215" name="Text 12"/>
          <p:cNvSpPr txBox="1"/>
          <p:nvPr/>
        </p:nvSpPr>
        <p:spPr>
          <a:xfrm>
            <a:off x="4703974" y="3176270"/>
            <a:ext cx="2783744" cy="688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40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91 %</a:t>
            </a:r>
          </a:p>
        </p:txBody>
      </p:sp>
      <p:sp>
        <p:nvSpPr>
          <p:cNvPr id="216" name="Text 13"/>
          <p:cNvSpPr txBox="1"/>
          <p:nvPr/>
        </p:nvSpPr>
        <p:spPr>
          <a:xfrm>
            <a:off x="4703974" y="4036367"/>
            <a:ext cx="2783744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träffsäkerhet</a:t>
            </a:r>
          </a:p>
        </p:txBody>
      </p:sp>
      <p:sp>
        <p:nvSpPr>
          <p:cNvPr id="217" name="Text 14"/>
          <p:cNvSpPr txBox="1"/>
          <p:nvPr/>
        </p:nvSpPr>
        <p:spPr>
          <a:xfrm>
            <a:off x="4703974" y="4526279"/>
            <a:ext cx="2783744" cy="454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55624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Optimerad för hög recall utan att drunkna i falsklarm.</a:t>
            </a:r>
          </a:p>
        </p:txBody>
      </p:sp>
      <p:sp>
        <p:nvSpPr>
          <p:cNvPr id="218" name="Shape 15"/>
          <p:cNvSpPr/>
          <p:nvPr/>
        </p:nvSpPr>
        <p:spPr>
          <a:xfrm>
            <a:off x="8173517" y="1828800"/>
            <a:ext cx="3423821" cy="3749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" name="Shape 16"/>
          <p:cNvSpPr/>
          <p:nvPr/>
        </p:nvSpPr>
        <p:spPr>
          <a:xfrm>
            <a:off x="8173517" y="1828800"/>
            <a:ext cx="3423821" cy="10972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" name="Text 17"/>
          <p:cNvSpPr txBox="1"/>
          <p:nvPr/>
        </p:nvSpPr>
        <p:spPr>
          <a:xfrm>
            <a:off x="8493555" y="2148838"/>
            <a:ext cx="2783742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900">
                <a:solidFill>
                  <a:srgbClr val="2C5F2D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Syntetisk</a:t>
            </a:r>
          </a:p>
          <a:p>
            <a:pPr>
              <a:defRPr b="1" sz="1900">
                <a:solidFill>
                  <a:srgbClr val="2C5F2D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data</a:t>
            </a:r>
          </a:p>
        </p:txBody>
      </p:sp>
      <p:sp>
        <p:nvSpPr>
          <p:cNvPr id="221" name="Text 18"/>
          <p:cNvSpPr txBox="1"/>
          <p:nvPr/>
        </p:nvSpPr>
        <p:spPr>
          <a:xfrm>
            <a:off x="8493555" y="3176270"/>
            <a:ext cx="2783742" cy="688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4000">
                <a:solidFill>
                  <a:srgbClr val="1C2A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2" name="Text 19"/>
          <p:cNvSpPr txBox="1"/>
          <p:nvPr/>
        </p:nvSpPr>
        <p:spPr>
          <a:xfrm>
            <a:off x="8493555" y="4036367"/>
            <a:ext cx="2783742" cy="24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förbättring</a:t>
            </a:r>
          </a:p>
        </p:txBody>
      </p:sp>
      <p:sp>
        <p:nvSpPr>
          <p:cNvPr id="223" name="Text 20"/>
          <p:cNvSpPr txBox="1"/>
          <p:nvPr/>
        </p:nvSpPr>
        <p:spPr>
          <a:xfrm>
            <a:off x="8493555" y="4526279"/>
            <a:ext cx="2783742" cy="454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55624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Extra bilder med andra miljöer och vinklar, utan fordon.</a:t>
            </a:r>
          </a:p>
        </p:txBody>
      </p:sp>
      <p:sp>
        <p:nvSpPr>
          <p:cNvPr id="224" name="Text 21"/>
          <p:cNvSpPr txBox="1"/>
          <p:nvPr/>
        </p:nvSpPr>
        <p:spPr>
          <a:xfrm>
            <a:off x="640079" y="5860219"/>
            <a:ext cx="10881361" cy="258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i="1" sz="13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Slutsats: förbättringarna var marginella — baslinjens arkitektur var redan väl anpassad.</a:t>
            </a:r>
          </a:p>
        </p:txBody>
      </p:sp>
      <p:sp>
        <p:nvSpPr>
          <p:cNvPr id="225" name="Shape 22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" name="Text 23"/>
          <p:cNvSpPr txBox="1"/>
          <p:nvPr/>
        </p:nvSpPr>
        <p:spPr>
          <a:xfrm>
            <a:off x="877820" y="6348133"/>
            <a:ext cx="5394966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  <p:sp>
        <p:nvSpPr>
          <p:cNvPr id="227" name="Text 24"/>
          <p:cNvSpPr txBox="1"/>
          <p:nvPr/>
        </p:nvSpPr>
        <p:spPr>
          <a:xfrm>
            <a:off x="10911533" y="6348133"/>
            <a:ext cx="640084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5C6B5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2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594359" y="676655"/>
            <a:ext cx="201172" cy="201172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" name="Text 1"/>
          <p:cNvSpPr txBox="1"/>
          <p:nvPr/>
        </p:nvSpPr>
        <p:spPr>
          <a:xfrm>
            <a:off x="905252" y="698807"/>
            <a:ext cx="640080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E7C14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SLUTSATS</a:t>
            </a:r>
          </a:p>
        </p:txBody>
      </p:sp>
      <p:sp>
        <p:nvSpPr>
          <p:cNvPr id="231" name="Text 2"/>
          <p:cNvSpPr txBox="1"/>
          <p:nvPr/>
        </p:nvSpPr>
        <p:spPr>
          <a:xfrm>
            <a:off x="594359" y="1181607"/>
            <a:ext cx="105156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En modell som hellre larmar än missar</a:t>
            </a:r>
          </a:p>
        </p:txBody>
      </p:sp>
      <p:sp>
        <p:nvSpPr>
          <p:cNvPr id="232" name="Text 3"/>
          <p:cNvSpPr txBox="1"/>
          <p:nvPr/>
        </p:nvSpPr>
        <p:spPr>
          <a:xfrm>
            <a:off x="640077" y="2057400"/>
            <a:ext cx="6035046" cy="1137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2000"/>
              </a:lnSpc>
              <a:spcBef>
                <a:spcPts val="1400"/>
              </a:spcBef>
              <a:defRPr sz="1600">
                <a:solidFill>
                  <a:srgbClr val="E2EADD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Genom att balansera datasetet och prioritera hög recall hittar modellen de flesta människorna — rätt avvägning för Search and Rescue.</a:t>
            </a:r>
          </a:p>
          <a:p>
            <a:pPr>
              <a:lnSpc>
                <a:spcPct val="112000"/>
              </a:lnSpc>
              <a:defRPr sz="1600">
                <a:solidFill>
                  <a:srgbClr val="B9C9B3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Grad-CAM visar svagare exakt lokalisering och viss förväxling med fordon.</a:t>
            </a:r>
          </a:p>
        </p:txBody>
      </p:sp>
      <p:sp>
        <p:nvSpPr>
          <p:cNvPr id="233" name="Shape 4"/>
          <p:cNvSpPr/>
          <p:nvPr/>
        </p:nvSpPr>
        <p:spPr>
          <a:xfrm>
            <a:off x="7269480" y="1920238"/>
            <a:ext cx="4297684" cy="4023363"/>
          </a:xfrm>
          <a:prstGeom prst="rect">
            <a:avLst/>
          </a:prstGeom>
          <a:solidFill>
            <a:srgbClr val="2C5F2D"/>
          </a:solidFill>
          <a:ln w="12700">
            <a:miter lim="400000"/>
          </a:ln>
          <a:effectLst>
            <a:outerShdw sx="100000" sy="100000" kx="0" ky="0" algn="b" rotWithShape="0" blurRad="114300" dist="38100" dir="8100000">
              <a:srgbClr val="000000">
                <a:alpha val="2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" name="Shape 5"/>
          <p:cNvSpPr/>
          <p:nvPr/>
        </p:nvSpPr>
        <p:spPr>
          <a:xfrm>
            <a:off x="7269480" y="1920238"/>
            <a:ext cx="4297684" cy="128020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Text 6"/>
          <p:cNvSpPr txBox="1"/>
          <p:nvPr/>
        </p:nvSpPr>
        <p:spPr>
          <a:xfrm>
            <a:off x="7680959" y="2294058"/>
            <a:ext cx="3474721" cy="258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100" sz="1300">
                <a:solidFill>
                  <a:srgbClr val="E7C14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Slutresultat (test)</a:t>
            </a:r>
          </a:p>
        </p:txBody>
      </p:sp>
      <p:sp>
        <p:nvSpPr>
          <p:cNvPr id="236" name="Text 7"/>
          <p:cNvSpPr txBox="1"/>
          <p:nvPr/>
        </p:nvSpPr>
        <p:spPr>
          <a:xfrm>
            <a:off x="7680959" y="2924243"/>
            <a:ext cx="2194564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EAF1E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Träffsäkerhet</a:t>
            </a:r>
          </a:p>
        </p:txBody>
      </p:sp>
      <p:sp>
        <p:nvSpPr>
          <p:cNvPr id="237" name="Text 8"/>
          <p:cNvSpPr txBox="1"/>
          <p:nvPr/>
        </p:nvSpPr>
        <p:spPr>
          <a:xfrm>
            <a:off x="9875518" y="2839721"/>
            <a:ext cx="1280165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b="1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90 %</a:t>
            </a:r>
          </a:p>
        </p:txBody>
      </p:sp>
      <p:sp>
        <p:nvSpPr>
          <p:cNvPr id="238" name="Shape 9"/>
          <p:cNvSpPr/>
          <p:nvPr/>
        </p:nvSpPr>
        <p:spPr>
          <a:xfrm>
            <a:off x="7635240" y="3465575"/>
            <a:ext cx="3566160" cy="5"/>
          </a:xfrm>
          <a:prstGeom prst="line">
            <a:avLst/>
          </a:prstGeom>
          <a:ln w="12700">
            <a:solidFill>
              <a:srgbClr val="3F734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 10"/>
          <p:cNvSpPr txBox="1"/>
          <p:nvPr/>
        </p:nvSpPr>
        <p:spPr>
          <a:xfrm>
            <a:off x="7680959" y="3674050"/>
            <a:ext cx="2194564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EAF1E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Recall · human</a:t>
            </a:r>
          </a:p>
        </p:txBody>
      </p:sp>
      <p:sp>
        <p:nvSpPr>
          <p:cNvPr id="240" name="Text 11"/>
          <p:cNvSpPr txBox="1"/>
          <p:nvPr/>
        </p:nvSpPr>
        <p:spPr>
          <a:xfrm>
            <a:off x="9875518" y="3589528"/>
            <a:ext cx="1280165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b="1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91 %</a:t>
            </a:r>
          </a:p>
        </p:txBody>
      </p:sp>
      <p:sp>
        <p:nvSpPr>
          <p:cNvPr id="241" name="Shape 12"/>
          <p:cNvSpPr/>
          <p:nvPr/>
        </p:nvSpPr>
        <p:spPr>
          <a:xfrm>
            <a:off x="7635240" y="4215383"/>
            <a:ext cx="3566160" cy="5"/>
          </a:xfrm>
          <a:prstGeom prst="line">
            <a:avLst/>
          </a:prstGeom>
          <a:ln w="12700">
            <a:solidFill>
              <a:srgbClr val="3F734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" name="Text 13"/>
          <p:cNvSpPr txBox="1"/>
          <p:nvPr/>
        </p:nvSpPr>
        <p:spPr>
          <a:xfrm>
            <a:off x="7680959" y="4423857"/>
            <a:ext cx="2194564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EAF1E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Precision · human</a:t>
            </a:r>
          </a:p>
        </p:txBody>
      </p:sp>
      <p:sp>
        <p:nvSpPr>
          <p:cNvPr id="243" name="Text 14"/>
          <p:cNvSpPr txBox="1"/>
          <p:nvPr/>
        </p:nvSpPr>
        <p:spPr>
          <a:xfrm>
            <a:off x="9875518" y="4339335"/>
            <a:ext cx="1280165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b="1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97 %</a:t>
            </a:r>
          </a:p>
        </p:txBody>
      </p:sp>
      <p:sp>
        <p:nvSpPr>
          <p:cNvPr id="244" name="Shape 15"/>
          <p:cNvSpPr/>
          <p:nvPr/>
        </p:nvSpPr>
        <p:spPr>
          <a:xfrm>
            <a:off x="7635240" y="4965190"/>
            <a:ext cx="3566160" cy="5"/>
          </a:xfrm>
          <a:prstGeom prst="line">
            <a:avLst/>
          </a:prstGeom>
          <a:ln w="12700">
            <a:solidFill>
              <a:srgbClr val="3F734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" name="Text 16"/>
          <p:cNvSpPr txBox="1"/>
          <p:nvPr/>
        </p:nvSpPr>
        <p:spPr>
          <a:xfrm>
            <a:off x="7680959" y="5173664"/>
            <a:ext cx="2194564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EAF1E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F1 · human</a:t>
            </a:r>
          </a:p>
        </p:txBody>
      </p:sp>
      <p:sp>
        <p:nvSpPr>
          <p:cNvPr id="246" name="Text 17"/>
          <p:cNvSpPr txBox="1"/>
          <p:nvPr/>
        </p:nvSpPr>
        <p:spPr>
          <a:xfrm>
            <a:off x="9875518" y="5089145"/>
            <a:ext cx="1280165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b="1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0.94</a:t>
            </a:r>
          </a:p>
        </p:txBody>
      </p:sp>
      <p:sp>
        <p:nvSpPr>
          <p:cNvPr id="247" name="Shape 18"/>
          <p:cNvSpPr/>
          <p:nvPr/>
        </p:nvSpPr>
        <p:spPr>
          <a:xfrm>
            <a:off x="594359" y="6382510"/>
            <a:ext cx="146308" cy="146308"/>
          </a:xfrm>
          <a:prstGeom prst="rect">
            <a:avLst/>
          </a:prstGeom>
          <a:solidFill>
            <a:srgbClr val="E7C14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Text 19"/>
          <p:cNvSpPr txBox="1"/>
          <p:nvPr/>
        </p:nvSpPr>
        <p:spPr>
          <a:xfrm>
            <a:off x="877820" y="6348132"/>
            <a:ext cx="5394966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9BB89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FASAN · Sökning Av Nödställda</a:t>
            </a:r>
          </a:p>
        </p:txBody>
      </p:sp>
      <p:sp>
        <p:nvSpPr>
          <p:cNvPr id="249" name="Text 20"/>
          <p:cNvSpPr txBox="1"/>
          <p:nvPr/>
        </p:nvSpPr>
        <p:spPr>
          <a:xfrm>
            <a:off x="10911533" y="6348132"/>
            <a:ext cx="640084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9BB89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50" name="Text 3"/>
          <p:cNvSpPr txBox="1"/>
          <p:nvPr/>
        </p:nvSpPr>
        <p:spPr>
          <a:xfrm>
            <a:off x="640077" y="4019977"/>
            <a:ext cx="6035046" cy="1137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2000"/>
              </a:lnSpc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Nästa steg</a:t>
            </a:r>
          </a:p>
          <a:p>
            <a:pPr>
              <a:lnSpc>
                <a:spcPct val="112000"/>
              </a:lnSpc>
              <a:defRPr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2000"/>
              </a:lnSpc>
              <a:defRPr sz="1600">
                <a:solidFill>
                  <a:srgbClr val="B9C9B3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Stärka lokaliseringen och minska falsklarm från fordon. </a:t>
            </a:r>
          </a:p>
          <a:p>
            <a:pPr>
              <a:lnSpc>
                <a:spcPct val="112000"/>
              </a:lnSpc>
              <a:defRPr sz="1600">
                <a:solidFill>
                  <a:srgbClr val="B9C9B3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Testa att implementera en YOLO modell och segmentering.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bg.png" descr="b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1750"/>
            <a:ext cx="12179301" cy="6854500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Tack för oss!"/>
          <p:cNvSpPr txBox="1"/>
          <p:nvPr/>
        </p:nvSpPr>
        <p:spPr>
          <a:xfrm>
            <a:off x="3613977" y="4755273"/>
            <a:ext cx="4951345" cy="1132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6800">
                <a:solidFill>
                  <a:srgbClr val="FFFFFF"/>
                </a:solidFill>
              </a:defRPr>
            </a:lvl1pPr>
          </a:lstStyle>
          <a:p>
            <a:pPr/>
            <a:r>
              <a:t>Tack för oss!</a:t>
            </a:r>
          </a:p>
        </p:txBody>
      </p:sp>
      <p:sp>
        <p:nvSpPr>
          <p:cNvPr id="254" name="Nu drar vi på sommarlov"/>
          <p:cNvSpPr txBox="1"/>
          <p:nvPr/>
        </p:nvSpPr>
        <p:spPr>
          <a:xfrm>
            <a:off x="4792616" y="5722745"/>
            <a:ext cx="2594068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Nu drar vi på sommarlov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