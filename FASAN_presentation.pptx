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6291071"/>
            <a:ext cx="12191697" cy="566929"/>
          </a:xfrm>
          <a:prstGeom prst="rect">
            <a:avLst/>
          </a:prstGeom>
          <a:solidFill>
            <a:srgbClr val="16271C">
              <a:alpha val="75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Text 1"/>
          <p:cNvSpPr txBox="1"/>
          <p:nvPr/>
        </p:nvSpPr>
        <p:spPr>
          <a:xfrm>
            <a:off x="594359" y="6496103"/>
            <a:ext cx="73152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AF0E6"/>
                </a:solidFill>
              </a:defRPr>
            </a:lvl1pPr>
          </a:lstStyle>
          <a:p>
            <a:pPr/>
            <a:r>
              <a:t>Tillämpad AI · Maskininlärning &amp; Deep Learning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8854134" y="6496103"/>
            <a:ext cx="27432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200">
                <a:solidFill>
                  <a:srgbClr val="E7C145"/>
                </a:solidFill>
              </a:defRPr>
            </a:lvl1pPr>
          </a:lstStyle>
          <a:p>
            <a:pPr/>
            <a:r>
              <a:t>Grupp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UPPDRAGET</a:t>
            </a:r>
          </a:p>
        </p:txBody>
      </p:sp>
      <p:sp>
        <p:nvSpPr>
          <p:cNvPr id="26" name="Text 2"/>
          <p:cNvSpPr txBox="1"/>
          <p:nvPr/>
        </p:nvSpPr>
        <p:spPr>
          <a:xfrm>
            <a:off x="594359" y="1194308"/>
            <a:ext cx="6309362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3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Hitta människor i terräng</a:t>
            </a:r>
          </a:p>
        </p:txBody>
      </p:sp>
      <p:sp>
        <p:nvSpPr>
          <p:cNvPr id="27" name="Text 3"/>
          <p:cNvSpPr txBox="1"/>
          <p:nvPr/>
        </p:nvSpPr>
        <p:spPr>
          <a:xfrm>
            <a:off x="640080" y="1965960"/>
            <a:ext cx="6035040" cy="1535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08000"/>
              </a:lnSpc>
              <a:spcBef>
                <a:spcPts val="1200"/>
              </a:spcBef>
              <a:defRPr sz="1600">
                <a:solidFill>
                  <a:srgbClr val="1C2A20"/>
                </a:solidFill>
              </a:defRPr>
            </a:pPr>
            <a:r>
              <a:t>Identifiera nödställda personer i terräng från flygbild — oavsett om de syns tydligt eller är delvis dolda. Ett uppdrag åt Försvarsmakten där varje missad person kan vara kritisk.</a:t>
            </a:r>
          </a:p>
          <a:p>
            <a:pPr>
              <a:lnSpc>
                <a:spcPct val="108000"/>
              </a:lnSpc>
              <a:defRPr sz="1600">
                <a:solidFill>
                  <a:srgbClr val="5C6B5A"/>
                </a:solidFill>
              </a:defRPr>
            </a:pPr>
            <a:r>
              <a:t>Vi formulerar det som binär klassificering: finns det en människa i bilden eller inte?</a:t>
            </a:r>
          </a:p>
        </p:txBody>
      </p:sp>
      <p:sp>
        <p:nvSpPr>
          <p:cNvPr id="28" name="Shape 4"/>
          <p:cNvSpPr/>
          <p:nvPr/>
        </p:nvSpPr>
        <p:spPr>
          <a:xfrm>
            <a:off x="594360" y="4709159"/>
            <a:ext cx="6126480" cy="1143001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Shape 5"/>
          <p:cNvSpPr/>
          <p:nvPr/>
        </p:nvSpPr>
        <p:spPr>
          <a:xfrm>
            <a:off x="594359" y="4709159"/>
            <a:ext cx="128017" cy="1143001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Text 6"/>
          <p:cNvSpPr txBox="1"/>
          <p:nvPr/>
        </p:nvSpPr>
        <p:spPr>
          <a:xfrm>
            <a:off x="1005839" y="5130363"/>
            <a:ext cx="5394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600">
                <a:solidFill>
                  <a:srgbClr val="E7C145"/>
                </a:solidFill>
              </a:defRPr>
            </a:pPr>
            <a:r>
              <a:t>Prioritering:  </a:t>
            </a:r>
            <a:r>
              <a:rPr b="0">
                <a:solidFill>
                  <a:srgbClr val="FFFFFF"/>
                </a:solidFill>
              </a:rPr>
              <a:t>hellre ett falsklarm än en missad människa.</a:t>
            </a:r>
          </a:p>
        </p:txBody>
      </p:sp>
      <p:sp>
        <p:nvSpPr>
          <p:cNvPr id="31" name="Shape 7"/>
          <p:cNvSpPr/>
          <p:nvPr/>
        </p:nvSpPr>
        <p:spPr>
          <a:xfrm>
            <a:off x="7269480" y="1024127"/>
            <a:ext cx="4297681" cy="457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3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79207" y="1133855"/>
            <a:ext cx="4078225" cy="4023361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Text 8"/>
          <p:cNvSpPr txBox="1"/>
          <p:nvPr/>
        </p:nvSpPr>
        <p:spPr>
          <a:xfrm>
            <a:off x="7424927" y="5262416"/>
            <a:ext cx="3986785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5C6B5A"/>
                </a:solidFill>
              </a:defRPr>
            </a:lvl1pPr>
          </a:lstStyle>
          <a:p>
            <a:pPr/>
            <a:r>
              <a:t>Flygbild ur SARD-datasetet — människa och fordon i terräng.</a:t>
            </a:r>
          </a:p>
        </p:txBody>
      </p:sp>
      <p:sp>
        <p:nvSpPr>
          <p:cNvPr id="34" name="Shape 9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Text 10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36" name="Text 11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DATASETET</a:t>
            </a:r>
          </a:p>
        </p:txBody>
      </p:sp>
      <p:sp>
        <p:nvSpPr>
          <p:cNvPr id="40" name="Text 2"/>
          <p:cNvSpPr txBox="1"/>
          <p:nvPr/>
        </p:nvSpPr>
        <p:spPr>
          <a:xfrm>
            <a:off x="594359" y="1135887"/>
            <a:ext cx="822960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4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SARD – Search and Rescue</a:t>
            </a:r>
          </a:p>
        </p:txBody>
      </p:sp>
      <p:sp>
        <p:nvSpPr>
          <p:cNvPr id="41" name="Text 3"/>
          <p:cNvSpPr txBox="1"/>
          <p:nvPr/>
        </p:nvSpPr>
        <p:spPr>
          <a:xfrm>
            <a:off x="640080" y="1783079"/>
            <a:ext cx="5577840" cy="772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0000"/>
              </a:lnSpc>
              <a:defRPr sz="1500">
                <a:solidFill>
                  <a:srgbClr val="1C2A20"/>
                </a:solidFill>
              </a:defRPr>
            </a:pPr>
            <a:r>
              <a:t>Flygbilder med YOLO-etiketter. En tom etikettfil → </a:t>
            </a:r>
            <a:r>
              <a:rPr b="1">
                <a:solidFill>
                  <a:srgbClr val="2C5F2D"/>
                </a:solidFill>
              </a:rPr>
              <a:t>ingen människa</a:t>
            </a:r>
            <a:r>
              <a:t>, en fil med minst en box → </a:t>
            </a:r>
            <a:r>
              <a:rPr b="1">
                <a:solidFill>
                  <a:srgbClr val="2C5F2D"/>
                </a:solidFill>
              </a:rPr>
              <a:t>människa</a:t>
            </a:r>
            <a:r>
              <a:t>. Datasetet är tydligt obalanserat, vilket vi hanterar med class weights.</a:t>
            </a:r>
          </a:p>
        </p:txBody>
      </p:sp>
      <p:sp>
        <p:nvSpPr>
          <p:cNvPr id="42" name="Text 16"/>
          <p:cNvSpPr txBox="1"/>
          <p:nvPr/>
        </p:nvSpPr>
        <p:spPr>
          <a:xfrm>
            <a:off x="640080" y="3409215"/>
            <a:ext cx="557784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2200">
                <a:solidFill>
                  <a:srgbClr val="2C5F2D"/>
                </a:solidFill>
              </a:defRPr>
            </a:pPr>
            <a:r>
              <a:t>5 755</a:t>
            </a:r>
            <a:r>
              <a:rPr b="0">
                <a:solidFill>
                  <a:srgbClr val="5C6B5A"/>
                </a:solidFill>
              </a:rPr>
              <a:t> bilder totalt  ·  </a:t>
            </a:r>
            <a:r>
              <a:t>≈86 % </a:t>
            </a:r>
            <a:r>
              <a:rPr b="0">
                <a:solidFill>
                  <a:srgbClr val="5C6B5A"/>
                </a:solidFill>
              </a:rPr>
              <a:t>med människa</a:t>
            </a:r>
          </a:p>
        </p:txBody>
      </p:sp>
      <p:sp>
        <p:nvSpPr>
          <p:cNvPr id="43" name="Shape 17"/>
          <p:cNvSpPr/>
          <p:nvPr/>
        </p:nvSpPr>
        <p:spPr>
          <a:xfrm>
            <a:off x="6903719" y="1417319"/>
            <a:ext cx="4663441" cy="42062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4" name="Text 18"/>
          <p:cNvSpPr txBox="1"/>
          <p:nvPr/>
        </p:nvSpPr>
        <p:spPr>
          <a:xfrm>
            <a:off x="7132320" y="1541125"/>
            <a:ext cx="4206240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400">
                <a:solidFill>
                  <a:srgbClr val="1C2A20"/>
                </a:solidFill>
              </a:defRPr>
            </a:lvl1pPr>
          </a:lstStyle>
          <a:p>
            <a:pPr/>
            <a:r>
              <a:t>Klassfördelning</a:t>
            </a:r>
          </a:p>
        </p:txBody>
      </p:sp>
      <p:sp>
        <p:nvSpPr>
          <p:cNvPr id="45" name="Shape 19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20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47" name="Text 21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8" name="Shape 4"/>
          <p:cNvSpPr/>
          <p:nvPr/>
        </p:nvSpPr>
        <p:spPr>
          <a:xfrm>
            <a:off x="8407692" y="2183700"/>
            <a:ext cx="1737361" cy="13716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9" name="Shape 5"/>
          <p:cNvSpPr/>
          <p:nvPr/>
        </p:nvSpPr>
        <p:spPr>
          <a:xfrm>
            <a:off x="8407692" y="2142555"/>
            <a:ext cx="1737361" cy="91441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6"/>
          <p:cNvSpPr txBox="1"/>
          <p:nvPr/>
        </p:nvSpPr>
        <p:spPr>
          <a:xfrm>
            <a:off x="8453412" y="2510090"/>
            <a:ext cx="1645921" cy="53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30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4 041</a:t>
            </a:r>
          </a:p>
        </p:txBody>
      </p:sp>
      <p:sp>
        <p:nvSpPr>
          <p:cNvPr id="51" name="Text 7"/>
          <p:cNvSpPr txBox="1"/>
          <p:nvPr/>
        </p:nvSpPr>
        <p:spPr>
          <a:xfrm>
            <a:off x="8453412" y="3151879"/>
            <a:ext cx="16459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5C6B5A"/>
                </a:solidFill>
              </a:defRPr>
            </a:lvl1pPr>
          </a:lstStyle>
          <a:p>
            <a:pPr/>
            <a:r>
              <a:t>train</a:t>
            </a:r>
          </a:p>
        </p:txBody>
      </p:sp>
      <p:sp>
        <p:nvSpPr>
          <p:cNvPr id="52" name="Shape 8"/>
          <p:cNvSpPr/>
          <p:nvPr/>
        </p:nvSpPr>
        <p:spPr>
          <a:xfrm>
            <a:off x="7424927" y="3790250"/>
            <a:ext cx="1737361" cy="13716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3" name="Shape 9"/>
          <p:cNvSpPr/>
          <p:nvPr/>
        </p:nvSpPr>
        <p:spPr>
          <a:xfrm>
            <a:off x="7424927" y="3790250"/>
            <a:ext cx="1737361" cy="91441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Text 10"/>
          <p:cNvSpPr txBox="1"/>
          <p:nvPr/>
        </p:nvSpPr>
        <p:spPr>
          <a:xfrm>
            <a:off x="7470647" y="4116640"/>
            <a:ext cx="1645921" cy="53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30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1 144</a:t>
            </a:r>
          </a:p>
        </p:txBody>
      </p:sp>
      <p:sp>
        <p:nvSpPr>
          <p:cNvPr id="55" name="Text 11"/>
          <p:cNvSpPr txBox="1"/>
          <p:nvPr/>
        </p:nvSpPr>
        <p:spPr>
          <a:xfrm>
            <a:off x="7470647" y="4758429"/>
            <a:ext cx="16459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5C6B5A"/>
                </a:solidFill>
              </a:defRPr>
            </a:lvl1pPr>
          </a:lstStyle>
          <a:p>
            <a:pPr/>
            <a:r>
              <a:t>valid</a:t>
            </a:r>
          </a:p>
        </p:txBody>
      </p:sp>
      <p:sp>
        <p:nvSpPr>
          <p:cNvPr id="56" name="Shape 12"/>
          <p:cNvSpPr/>
          <p:nvPr/>
        </p:nvSpPr>
        <p:spPr>
          <a:xfrm>
            <a:off x="9308591" y="3790250"/>
            <a:ext cx="1737361" cy="13716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" name="Shape 13"/>
          <p:cNvSpPr/>
          <p:nvPr/>
        </p:nvSpPr>
        <p:spPr>
          <a:xfrm>
            <a:off x="9308591" y="3790250"/>
            <a:ext cx="1737361" cy="91441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Text 14"/>
          <p:cNvSpPr txBox="1"/>
          <p:nvPr/>
        </p:nvSpPr>
        <p:spPr>
          <a:xfrm>
            <a:off x="9354311" y="4116640"/>
            <a:ext cx="1645921" cy="53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30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570</a:t>
            </a:r>
          </a:p>
        </p:txBody>
      </p:sp>
      <p:sp>
        <p:nvSpPr>
          <p:cNvPr id="59" name="Text 15"/>
          <p:cNvSpPr txBox="1"/>
          <p:nvPr/>
        </p:nvSpPr>
        <p:spPr>
          <a:xfrm>
            <a:off x="9354311" y="4758429"/>
            <a:ext cx="16459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5C6B5A"/>
                </a:solidFill>
              </a:defRPr>
            </a:lvl1pPr>
          </a:lstStyle>
          <a:p>
            <a:pPr/>
            <a:r>
              <a:t>test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METOD</a:t>
            </a:r>
          </a:p>
        </p:txBody>
      </p:sp>
      <p:sp>
        <p:nvSpPr>
          <p:cNvPr id="63" name="Text 2"/>
          <p:cNvSpPr txBox="1"/>
          <p:nvPr/>
        </p:nvSpPr>
        <p:spPr>
          <a:xfrm>
            <a:off x="594359" y="1154937"/>
            <a:ext cx="1051560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Pipelinen — från rådata till förklaring</a:t>
            </a:r>
          </a:p>
        </p:txBody>
      </p:sp>
      <p:sp>
        <p:nvSpPr>
          <p:cNvPr id="64" name="Shape 3"/>
          <p:cNvSpPr/>
          <p:nvPr/>
        </p:nvSpPr>
        <p:spPr>
          <a:xfrm>
            <a:off x="594360" y="2989579"/>
            <a:ext cx="1352398" cy="15544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5" name="Shape 4"/>
          <p:cNvSpPr/>
          <p:nvPr/>
        </p:nvSpPr>
        <p:spPr>
          <a:xfrm>
            <a:off x="1014527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Text 5"/>
          <p:cNvSpPr txBox="1"/>
          <p:nvPr/>
        </p:nvSpPr>
        <p:spPr>
          <a:xfrm>
            <a:off x="1060247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7" name="Text 7"/>
          <p:cNvSpPr txBox="1"/>
          <p:nvPr/>
        </p:nvSpPr>
        <p:spPr>
          <a:xfrm>
            <a:off x="1955902" y="3530599"/>
            <a:ext cx="237745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600">
                <a:solidFill>
                  <a:srgbClr val="8BAE5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68" name="Shape 8"/>
          <p:cNvSpPr/>
          <p:nvPr/>
        </p:nvSpPr>
        <p:spPr>
          <a:xfrm>
            <a:off x="2202789" y="2989579"/>
            <a:ext cx="1352399" cy="15544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9" name="Shape 9"/>
          <p:cNvSpPr/>
          <p:nvPr/>
        </p:nvSpPr>
        <p:spPr>
          <a:xfrm>
            <a:off x="2622955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Text 10"/>
          <p:cNvSpPr txBox="1"/>
          <p:nvPr/>
        </p:nvSpPr>
        <p:spPr>
          <a:xfrm>
            <a:off x="2668675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71" name="Text 11"/>
          <p:cNvSpPr txBox="1"/>
          <p:nvPr/>
        </p:nvSpPr>
        <p:spPr>
          <a:xfrm>
            <a:off x="640080" y="3654097"/>
            <a:ext cx="1260958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200">
                <a:solidFill>
                  <a:srgbClr val="1C2A20"/>
                </a:solidFill>
              </a:defRPr>
            </a:pPr>
            <a:r>
              <a:t>Ladda</a:t>
            </a:r>
          </a:p>
          <a:p>
            <a:pPr algn="ctr">
              <a:defRPr b="1" sz="1200">
                <a:solidFill>
                  <a:srgbClr val="1C2A20"/>
                </a:solidFill>
              </a:defRPr>
            </a:pPr>
            <a:r>
              <a:t>data</a:t>
            </a:r>
          </a:p>
        </p:txBody>
      </p:sp>
      <p:sp>
        <p:nvSpPr>
          <p:cNvPr id="72" name="Text 12"/>
          <p:cNvSpPr txBox="1"/>
          <p:nvPr/>
        </p:nvSpPr>
        <p:spPr>
          <a:xfrm>
            <a:off x="3564330" y="3530599"/>
            <a:ext cx="237745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600">
                <a:solidFill>
                  <a:srgbClr val="8BAE5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73" name="Shape 13"/>
          <p:cNvSpPr/>
          <p:nvPr/>
        </p:nvSpPr>
        <p:spPr>
          <a:xfrm>
            <a:off x="3811218" y="2989579"/>
            <a:ext cx="1352399" cy="15544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4" name="Shape 14"/>
          <p:cNvSpPr/>
          <p:nvPr/>
        </p:nvSpPr>
        <p:spPr>
          <a:xfrm>
            <a:off x="4231385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Text 15"/>
          <p:cNvSpPr txBox="1"/>
          <p:nvPr/>
        </p:nvSpPr>
        <p:spPr>
          <a:xfrm>
            <a:off x="4277105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6" name="Text 16"/>
          <p:cNvSpPr txBox="1"/>
          <p:nvPr/>
        </p:nvSpPr>
        <p:spPr>
          <a:xfrm>
            <a:off x="3856938" y="3749347"/>
            <a:ext cx="126095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1C2A20"/>
                </a:solidFill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77" name="Text 17"/>
          <p:cNvSpPr txBox="1"/>
          <p:nvPr/>
        </p:nvSpPr>
        <p:spPr>
          <a:xfrm>
            <a:off x="5172760" y="3530599"/>
            <a:ext cx="237745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600">
                <a:solidFill>
                  <a:srgbClr val="8BAE5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78" name="Shape 18"/>
          <p:cNvSpPr/>
          <p:nvPr/>
        </p:nvSpPr>
        <p:spPr>
          <a:xfrm>
            <a:off x="5419649" y="2989579"/>
            <a:ext cx="1352399" cy="15544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9" name="Shape 19"/>
          <p:cNvSpPr/>
          <p:nvPr/>
        </p:nvSpPr>
        <p:spPr>
          <a:xfrm>
            <a:off x="5839816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" name="Text 20"/>
          <p:cNvSpPr txBox="1"/>
          <p:nvPr/>
        </p:nvSpPr>
        <p:spPr>
          <a:xfrm>
            <a:off x="5885536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81" name="Text 21"/>
          <p:cNvSpPr txBox="1"/>
          <p:nvPr/>
        </p:nvSpPr>
        <p:spPr>
          <a:xfrm>
            <a:off x="5465369" y="3654097"/>
            <a:ext cx="1260959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200">
                <a:solidFill>
                  <a:srgbClr val="1C2A20"/>
                </a:solidFill>
              </a:defRPr>
            </a:pPr>
            <a:r>
              <a:t>Bygg</a:t>
            </a:r>
          </a:p>
          <a:p>
            <a:pPr algn="ctr">
              <a:defRPr b="1" sz="1200">
                <a:solidFill>
                  <a:srgbClr val="1C2A20"/>
                </a:solidFill>
              </a:defRPr>
            </a:pPr>
            <a:r>
              <a:t>CNN</a:t>
            </a:r>
          </a:p>
        </p:txBody>
      </p:sp>
      <p:sp>
        <p:nvSpPr>
          <p:cNvPr id="82" name="Text 22"/>
          <p:cNvSpPr txBox="1"/>
          <p:nvPr/>
        </p:nvSpPr>
        <p:spPr>
          <a:xfrm>
            <a:off x="6781190" y="3530599"/>
            <a:ext cx="237745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600">
                <a:solidFill>
                  <a:srgbClr val="8BAE5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83" name="Shape 23"/>
          <p:cNvSpPr/>
          <p:nvPr/>
        </p:nvSpPr>
        <p:spPr>
          <a:xfrm>
            <a:off x="7028078" y="2989579"/>
            <a:ext cx="1352398" cy="15544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4" name="Shape 24"/>
          <p:cNvSpPr/>
          <p:nvPr/>
        </p:nvSpPr>
        <p:spPr>
          <a:xfrm>
            <a:off x="7448245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25"/>
          <p:cNvSpPr txBox="1"/>
          <p:nvPr/>
        </p:nvSpPr>
        <p:spPr>
          <a:xfrm>
            <a:off x="7493965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86" name="Text 26"/>
          <p:cNvSpPr txBox="1"/>
          <p:nvPr/>
        </p:nvSpPr>
        <p:spPr>
          <a:xfrm>
            <a:off x="7073798" y="3749347"/>
            <a:ext cx="1260958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1C2A20"/>
                </a:solidFill>
              </a:defRPr>
            </a:lvl1pPr>
          </a:lstStyle>
          <a:p>
            <a:pPr/>
            <a:r>
              <a:t>Träna</a:t>
            </a:r>
          </a:p>
        </p:txBody>
      </p:sp>
      <p:sp>
        <p:nvSpPr>
          <p:cNvPr id="87" name="Text 27"/>
          <p:cNvSpPr txBox="1"/>
          <p:nvPr/>
        </p:nvSpPr>
        <p:spPr>
          <a:xfrm>
            <a:off x="8389619" y="3530599"/>
            <a:ext cx="237746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600">
                <a:solidFill>
                  <a:srgbClr val="8BAE5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88" name="Shape 28"/>
          <p:cNvSpPr/>
          <p:nvPr/>
        </p:nvSpPr>
        <p:spPr>
          <a:xfrm>
            <a:off x="8636507" y="2989579"/>
            <a:ext cx="1352399" cy="15544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9" name="Shape 29"/>
          <p:cNvSpPr/>
          <p:nvPr/>
        </p:nvSpPr>
        <p:spPr>
          <a:xfrm>
            <a:off x="9056675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Text 30"/>
          <p:cNvSpPr txBox="1"/>
          <p:nvPr/>
        </p:nvSpPr>
        <p:spPr>
          <a:xfrm>
            <a:off x="9102395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91" name="Text 31"/>
          <p:cNvSpPr txBox="1"/>
          <p:nvPr/>
        </p:nvSpPr>
        <p:spPr>
          <a:xfrm>
            <a:off x="8682227" y="3749347"/>
            <a:ext cx="126095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1C2A20"/>
                </a:solidFill>
              </a:defRPr>
            </a:lvl1pPr>
          </a:lstStyle>
          <a:p>
            <a:pPr/>
            <a:r>
              <a:t>Utvärdera</a:t>
            </a:r>
          </a:p>
        </p:txBody>
      </p:sp>
      <p:sp>
        <p:nvSpPr>
          <p:cNvPr id="92" name="Text 32"/>
          <p:cNvSpPr txBox="1"/>
          <p:nvPr/>
        </p:nvSpPr>
        <p:spPr>
          <a:xfrm>
            <a:off x="9998049" y="3530599"/>
            <a:ext cx="237745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600">
                <a:solidFill>
                  <a:srgbClr val="8BAE5D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93" name="Shape 33"/>
          <p:cNvSpPr/>
          <p:nvPr/>
        </p:nvSpPr>
        <p:spPr>
          <a:xfrm>
            <a:off x="10244938" y="2989579"/>
            <a:ext cx="1352399" cy="1554481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4" name="Shape 34"/>
          <p:cNvSpPr/>
          <p:nvPr/>
        </p:nvSpPr>
        <p:spPr>
          <a:xfrm>
            <a:off x="10665104" y="2733548"/>
            <a:ext cx="512065" cy="512065"/>
          </a:xfrm>
          <a:prstGeom prst="ellipse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35"/>
          <p:cNvSpPr txBox="1"/>
          <p:nvPr/>
        </p:nvSpPr>
        <p:spPr>
          <a:xfrm>
            <a:off x="10710824" y="2823210"/>
            <a:ext cx="42062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96" name="Text 36"/>
          <p:cNvSpPr txBox="1"/>
          <p:nvPr/>
        </p:nvSpPr>
        <p:spPr>
          <a:xfrm>
            <a:off x="10290658" y="3654097"/>
            <a:ext cx="1260959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Grad-CAM</a:t>
            </a:r>
          </a:p>
          <a:p>
            <a:pPr algn="ctr">
              <a:defRPr b="1" sz="1200">
                <a:solidFill>
                  <a:srgbClr val="FFFFFF"/>
                </a:solidFill>
              </a:defRPr>
            </a:pPr>
            <a:r>
              <a:t>&amp; IoU</a:t>
            </a:r>
          </a:p>
        </p:txBody>
      </p:sp>
      <p:sp>
        <p:nvSpPr>
          <p:cNvPr id="97" name="Shape 38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39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99" name="Text 40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100" name="Text 6"/>
          <p:cNvSpPr txBox="1"/>
          <p:nvPr/>
        </p:nvSpPr>
        <p:spPr>
          <a:xfrm>
            <a:off x="2271369" y="3654097"/>
            <a:ext cx="1260959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200">
                <a:solidFill>
                  <a:srgbClr val="1C2A20"/>
                </a:solidFill>
              </a:defRPr>
            </a:pPr>
            <a:r>
              <a:t>Rensa &amp;</a:t>
            </a:r>
          </a:p>
          <a:p>
            <a:pPr algn="ctr">
              <a:defRPr b="1" sz="1200">
                <a:solidFill>
                  <a:srgbClr val="1C2A20"/>
                </a:solidFill>
              </a:defRPr>
            </a:pPr>
            <a:r>
              <a:t>kontroll av datan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MODELLEN</a:t>
            </a:r>
          </a:p>
        </p:txBody>
      </p:sp>
      <p:sp>
        <p:nvSpPr>
          <p:cNvPr id="104" name="Text 2"/>
          <p:cNvSpPr txBox="1"/>
          <p:nvPr/>
        </p:nvSpPr>
        <p:spPr>
          <a:xfrm>
            <a:off x="594359" y="1154937"/>
            <a:ext cx="1051560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Ett CNN för binär klassificering</a:t>
            </a:r>
          </a:p>
        </p:txBody>
      </p:sp>
      <p:sp>
        <p:nvSpPr>
          <p:cNvPr id="105" name="Shape 3"/>
          <p:cNvSpPr/>
          <p:nvPr/>
        </p:nvSpPr>
        <p:spPr>
          <a:xfrm>
            <a:off x="594359" y="2514599"/>
            <a:ext cx="1371601" cy="1554482"/>
          </a:xfrm>
          <a:prstGeom prst="rect">
            <a:avLst/>
          </a:prstGeom>
          <a:solidFill>
            <a:srgbClr val="B9C9A6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6" name="Text 4"/>
          <p:cNvSpPr txBox="1"/>
          <p:nvPr/>
        </p:nvSpPr>
        <p:spPr>
          <a:xfrm>
            <a:off x="640079" y="3096436"/>
            <a:ext cx="1280161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100">
                <a:solidFill>
                  <a:srgbClr val="2C4327"/>
                </a:solidFill>
              </a:defRPr>
            </a:pPr>
            <a:r>
              <a:t>Input</a:t>
            </a:r>
          </a:p>
          <a:p>
            <a:pPr algn="ctr">
              <a:defRPr b="1" sz="1100">
                <a:solidFill>
                  <a:srgbClr val="2C4327"/>
                </a:solidFill>
              </a:defRPr>
            </a:pPr>
            <a:r>
              <a:t>640×640×3</a:t>
            </a:r>
          </a:p>
        </p:txBody>
      </p:sp>
      <p:sp>
        <p:nvSpPr>
          <p:cNvPr id="107" name="Shape 5"/>
          <p:cNvSpPr/>
          <p:nvPr/>
        </p:nvSpPr>
        <p:spPr>
          <a:xfrm>
            <a:off x="2112264" y="2514599"/>
            <a:ext cx="1051561" cy="1554482"/>
          </a:xfrm>
          <a:prstGeom prst="rect">
            <a:avLst/>
          </a:prstGeom>
          <a:solidFill>
            <a:srgbClr val="A7C083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8" name="Text 6"/>
          <p:cNvSpPr txBox="1"/>
          <p:nvPr/>
        </p:nvSpPr>
        <p:spPr>
          <a:xfrm>
            <a:off x="2157984" y="3178986"/>
            <a:ext cx="9601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2C4327"/>
                </a:solidFill>
              </a:defRPr>
            </a:lvl1pPr>
          </a:lstStyle>
          <a:p>
            <a:pPr/>
            <a:r>
              <a:t>Conv 32</a:t>
            </a:r>
          </a:p>
        </p:txBody>
      </p:sp>
      <p:sp>
        <p:nvSpPr>
          <p:cNvPr id="109" name="Shape 7"/>
          <p:cNvSpPr/>
          <p:nvPr/>
        </p:nvSpPr>
        <p:spPr>
          <a:xfrm>
            <a:off x="3310128" y="2514599"/>
            <a:ext cx="1188721" cy="1554482"/>
          </a:xfrm>
          <a:prstGeom prst="rect">
            <a:avLst/>
          </a:prstGeom>
          <a:solidFill>
            <a:srgbClr val="8BAE5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0" name="Text 8"/>
          <p:cNvSpPr txBox="1"/>
          <p:nvPr/>
        </p:nvSpPr>
        <p:spPr>
          <a:xfrm>
            <a:off x="3355848" y="3178986"/>
            <a:ext cx="10972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Conv 64</a:t>
            </a:r>
          </a:p>
        </p:txBody>
      </p:sp>
      <p:sp>
        <p:nvSpPr>
          <p:cNvPr id="111" name="Shape 9"/>
          <p:cNvSpPr/>
          <p:nvPr/>
        </p:nvSpPr>
        <p:spPr>
          <a:xfrm>
            <a:off x="4645152" y="2514599"/>
            <a:ext cx="1371601" cy="1554482"/>
          </a:xfrm>
          <a:prstGeom prst="rect">
            <a:avLst/>
          </a:prstGeom>
          <a:solidFill>
            <a:srgbClr val="5E8E3E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2" name="Text 10"/>
          <p:cNvSpPr txBox="1"/>
          <p:nvPr/>
        </p:nvSpPr>
        <p:spPr>
          <a:xfrm>
            <a:off x="4690872" y="3178986"/>
            <a:ext cx="1280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Conv 128</a:t>
            </a:r>
          </a:p>
        </p:txBody>
      </p:sp>
      <p:sp>
        <p:nvSpPr>
          <p:cNvPr id="113" name="Shape 11"/>
          <p:cNvSpPr/>
          <p:nvPr/>
        </p:nvSpPr>
        <p:spPr>
          <a:xfrm>
            <a:off x="6163055" y="2514599"/>
            <a:ext cx="1554481" cy="1554482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4" name="Text 12"/>
          <p:cNvSpPr txBox="1"/>
          <p:nvPr/>
        </p:nvSpPr>
        <p:spPr>
          <a:xfrm>
            <a:off x="6208775" y="3178986"/>
            <a:ext cx="146304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Conv 256</a:t>
            </a:r>
          </a:p>
        </p:txBody>
      </p:sp>
      <p:sp>
        <p:nvSpPr>
          <p:cNvPr id="115" name="Shape 13"/>
          <p:cNvSpPr/>
          <p:nvPr/>
        </p:nvSpPr>
        <p:spPr>
          <a:xfrm>
            <a:off x="7863840" y="2514599"/>
            <a:ext cx="1188721" cy="1554482"/>
          </a:xfrm>
          <a:prstGeom prst="rect">
            <a:avLst/>
          </a:prstGeom>
          <a:solidFill>
            <a:srgbClr val="3F5E36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6" name="Text 14"/>
          <p:cNvSpPr txBox="1"/>
          <p:nvPr/>
        </p:nvSpPr>
        <p:spPr>
          <a:xfrm>
            <a:off x="7909560" y="3096436"/>
            <a:ext cx="1097281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Global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MaxPool</a:t>
            </a:r>
          </a:p>
        </p:txBody>
      </p:sp>
      <p:sp>
        <p:nvSpPr>
          <p:cNvPr id="117" name="Shape 15"/>
          <p:cNvSpPr/>
          <p:nvPr/>
        </p:nvSpPr>
        <p:spPr>
          <a:xfrm>
            <a:off x="9198864" y="2514599"/>
            <a:ext cx="1280161" cy="1554482"/>
          </a:xfrm>
          <a:prstGeom prst="rect">
            <a:avLst/>
          </a:prstGeom>
          <a:solidFill>
            <a:srgbClr val="2C4327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8" name="Text 16"/>
          <p:cNvSpPr txBox="1"/>
          <p:nvPr/>
        </p:nvSpPr>
        <p:spPr>
          <a:xfrm>
            <a:off x="9244584" y="3096436"/>
            <a:ext cx="1188721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Dense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256 ×2</a:t>
            </a:r>
          </a:p>
        </p:txBody>
      </p:sp>
      <p:sp>
        <p:nvSpPr>
          <p:cNvPr id="119" name="Shape 17"/>
          <p:cNvSpPr/>
          <p:nvPr/>
        </p:nvSpPr>
        <p:spPr>
          <a:xfrm>
            <a:off x="10625328" y="2514599"/>
            <a:ext cx="1097281" cy="1554482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0" name="Text 18"/>
          <p:cNvSpPr txBox="1"/>
          <p:nvPr/>
        </p:nvSpPr>
        <p:spPr>
          <a:xfrm>
            <a:off x="10671048" y="3178986"/>
            <a:ext cx="100584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1C2A20"/>
                </a:solidFill>
              </a:defRPr>
            </a:lvl1pPr>
          </a:lstStyle>
          <a:p>
            <a:pPr/>
            <a:r>
              <a:t>Sigmoid</a:t>
            </a:r>
          </a:p>
        </p:txBody>
      </p:sp>
      <p:sp>
        <p:nvSpPr>
          <p:cNvPr id="121" name="Text 19"/>
          <p:cNvSpPr txBox="1"/>
          <p:nvPr/>
        </p:nvSpPr>
        <p:spPr>
          <a:xfrm>
            <a:off x="640079" y="4722167"/>
            <a:ext cx="256032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20" sz="1200">
                <a:solidFill>
                  <a:schemeClr val="accent4">
                    <a:lumOff val="-9999"/>
                  </a:schemeClr>
                </a:solidFill>
              </a:defRPr>
            </a:lvl1pPr>
          </a:lstStyle>
          <a:p>
            <a:pPr/>
            <a:r>
              <a:t>OPTIMERARE</a:t>
            </a:r>
          </a:p>
        </p:txBody>
      </p:sp>
      <p:sp>
        <p:nvSpPr>
          <p:cNvPr id="122" name="Text 20"/>
          <p:cNvSpPr txBox="1"/>
          <p:nvPr/>
        </p:nvSpPr>
        <p:spPr>
          <a:xfrm>
            <a:off x="640079" y="5071680"/>
            <a:ext cx="256032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C2A20"/>
                </a:solidFill>
              </a:defRPr>
            </a:lvl1pPr>
          </a:lstStyle>
          <a:p>
            <a:pPr/>
            <a:r>
              <a:t>AdamW · lr 1e-4</a:t>
            </a:r>
          </a:p>
        </p:txBody>
      </p:sp>
      <p:sp>
        <p:nvSpPr>
          <p:cNvPr id="123" name="Text 21"/>
          <p:cNvSpPr txBox="1"/>
          <p:nvPr/>
        </p:nvSpPr>
        <p:spPr>
          <a:xfrm>
            <a:off x="3383279" y="4722167"/>
            <a:ext cx="2560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20" sz="1200">
                <a:solidFill>
                  <a:schemeClr val="accent4">
                    <a:lumOff val="-9999"/>
                  </a:schemeClr>
                </a:solidFill>
              </a:defRPr>
            </a:lvl1pPr>
          </a:lstStyle>
          <a:p>
            <a:pPr/>
            <a:r>
              <a:t>LOSS</a:t>
            </a:r>
          </a:p>
        </p:txBody>
      </p:sp>
      <p:sp>
        <p:nvSpPr>
          <p:cNvPr id="124" name="Text 22"/>
          <p:cNvSpPr txBox="1"/>
          <p:nvPr/>
        </p:nvSpPr>
        <p:spPr>
          <a:xfrm>
            <a:off x="3383279" y="5071680"/>
            <a:ext cx="2560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C2A20"/>
                </a:solidFill>
              </a:defRPr>
            </a:lvl1pPr>
          </a:lstStyle>
          <a:p>
            <a:pPr/>
            <a:r>
              <a:t>Binary crossentropy</a:t>
            </a:r>
          </a:p>
        </p:txBody>
      </p:sp>
      <p:sp>
        <p:nvSpPr>
          <p:cNvPr id="125" name="Text 23"/>
          <p:cNvSpPr txBox="1"/>
          <p:nvPr/>
        </p:nvSpPr>
        <p:spPr>
          <a:xfrm>
            <a:off x="6126479" y="4722167"/>
            <a:ext cx="2560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20" sz="1200">
                <a:solidFill>
                  <a:schemeClr val="accent4">
                    <a:lumOff val="-9999"/>
                  </a:schemeClr>
                </a:solidFill>
              </a:defRPr>
            </a:lvl1pPr>
          </a:lstStyle>
          <a:p>
            <a:pPr/>
            <a:r>
              <a:t>REGULARISERING</a:t>
            </a:r>
          </a:p>
        </p:txBody>
      </p:sp>
      <p:sp>
        <p:nvSpPr>
          <p:cNvPr id="126" name="Text 24"/>
          <p:cNvSpPr txBox="1"/>
          <p:nvPr/>
        </p:nvSpPr>
        <p:spPr>
          <a:xfrm>
            <a:off x="6126479" y="5071680"/>
            <a:ext cx="2560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C2A20"/>
                </a:solidFill>
              </a:defRPr>
            </a:lvl1pPr>
          </a:lstStyle>
          <a:p>
            <a:pPr/>
            <a:r>
              <a:t>Dropout 0.25 · L2</a:t>
            </a:r>
          </a:p>
        </p:txBody>
      </p:sp>
      <p:sp>
        <p:nvSpPr>
          <p:cNvPr id="127" name="Text 25"/>
          <p:cNvSpPr txBox="1"/>
          <p:nvPr/>
        </p:nvSpPr>
        <p:spPr>
          <a:xfrm>
            <a:off x="8869679" y="4722167"/>
            <a:ext cx="2560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20" sz="1200">
                <a:solidFill>
                  <a:schemeClr val="accent4">
                    <a:lumOff val="-9999"/>
                  </a:schemeClr>
                </a:solidFill>
              </a:defRPr>
            </a:lvl1pPr>
          </a:lstStyle>
          <a:p>
            <a:pPr/>
            <a:r>
              <a:t>OUTPUT</a:t>
            </a:r>
          </a:p>
        </p:txBody>
      </p:sp>
      <p:sp>
        <p:nvSpPr>
          <p:cNvPr id="128" name="Text 26"/>
          <p:cNvSpPr txBox="1"/>
          <p:nvPr/>
        </p:nvSpPr>
        <p:spPr>
          <a:xfrm>
            <a:off x="8869679" y="5071680"/>
            <a:ext cx="2560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1C2A20"/>
                </a:solidFill>
              </a:defRPr>
            </a:lvl1pPr>
          </a:lstStyle>
          <a:p>
            <a:pPr/>
            <a:r>
              <a:t>Sigmoid → sannolikhet</a:t>
            </a:r>
          </a:p>
        </p:txBody>
      </p:sp>
      <p:sp>
        <p:nvSpPr>
          <p:cNvPr id="129" name="Shape 27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Text 28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131" name="Text 29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TRÄNING</a:t>
            </a:r>
          </a:p>
        </p:txBody>
      </p:sp>
      <p:sp>
        <p:nvSpPr>
          <p:cNvPr id="135" name="Text 2"/>
          <p:cNvSpPr txBox="1"/>
          <p:nvPr/>
        </p:nvSpPr>
        <p:spPr>
          <a:xfrm>
            <a:off x="594359" y="1066037"/>
            <a:ext cx="640080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Balanserad och övervakad</a:t>
            </a:r>
          </a:p>
        </p:txBody>
      </p:sp>
      <p:sp>
        <p:nvSpPr>
          <p:cNvPr id="136" name="Text 4"/>
          <p:cNvSpPr txBox="1"/>
          <p:nvPr/>
        </p:nvSpPr>
        <p:spPr>
          <a:xfrm>
            <a:off x="6345681" y="5010828"/>
            <a:ext cx="502920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2C5F2D"/>
                </a:solidFill>
              </a:defRPr>
            </a:lvl1pPr>
          </a:lstStyle>
          <a:p>
            <a:pPr/>
            <a:r>
              <a:t>Augmentering</a:t>
            </a:r>
          </a:p>
        </p:txBody>
      </p:sp>
      <p:sp>
        <p:nvSpPr>
          <p:cNvPr id="137" name="Text 5"/>
          <p:cNvSpPr txBox="1"/>
          <p:nvPr/>
        </p:nvSpPr>
        <p:spPr>
          <a:xfrm>
            <a:off x="6345681" y="5300702"/>
            <a:ext cx="502920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Flip, lätt rotation, ljus, kontrast och färg — bara på träningsdata.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6345681" y="5565872"/>
            <a:ext cx="502920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2C5F2D"/>
                </a:solidFill>
              </a:defRPr>
            </a:lvl1pPr>
          </a:lstStyle>
          <a:p>
            <a:pPr/>
            <a:r>
              <a:t>Class weights</a:t>
            </a:r>
          </a:p>
        </p:txBody>
      </p:sp>
      <p:sp>
        <p:nvSpPr>
          <p:cNvPr id="139" name="Text 8"/>
          <p:cNvSpPr txBox="1"/>
          <p:nvPr/>
        </p:nvSpPr>
        <p:spPr>
          <a:xfrm>
            <a:off x="6345681" y="5855746"/>
            <a:ext cx="502920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Läge balanced lyfter den mindre klassen (ingen människa).</a:t>
            </a:r>
          </a:p>
        </p:txBody>
      </p:sp>
      <p:sp>
        <p:nvSpPr>
          <p:cNvPr id="140" name="Text 10"/>
          <p:cNvSpPr txBox="1"/>
          <p:nvPr/>
        </p:nvSpPr>
        <p:spPr>
          <a:xfrm>
            <a:off x="1115313" y="4988512"/>
            <a:ext cx="502920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2C5F2D"/>
                </a:solidFill>
              </a:defRPr>
            </a:lvl1pPr>
          </a:lstStyle>
          <a:p>
            <a:pPr/>
            <a:r>
              <a:t>EarlyStopping</a:t>
            </a:r>
          </a:p>
        </p:txBody>
      </p:sp>
      <p:sp>
        <p:nvSpPr>
          <p:cNvPr id="141" name="Text 11"/>
          <p:cNvSpPr txBox="1"/>
          <p:nvPr/>
        </p:nvSpPr>
        <p:spPr>
          <a:xfrm>
            <a:off x="1115313" y="5281676"/>
            <a:ext cx="502920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Bevakar val_loss, återställer bästa vikterna.</a:t>
            </a:r>
          </a:p>
        </p:txBody>
      </p:sp>
      <p:sp>
        <p:nvSpPr>
          <p:cNvPr id="142" name="Shape 12"/>
          <p:cNvSpPr/>
          <p:nvPr/>
        </p:nvSpPr>
        <p:spPr>
          <a:xfrm>
            <a:off x="804417" y="4979589"/>
            <a:ext cx="91441" cy="1143001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Text 13"/>
          <p:cNvSpPr txBox="1"/>
          <p:nvPr/>
        </p:nvSpPr>
        <p:spPr>
          <a:xfrm>
            <a:off x="1106169" y="5567746"/>
            <a:ext cx="502920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2C5F2D"/>
                </a:solidFill>
              </a:defRPr>
            </a:lvl1pPr>
          </a:lstStyle>
          <a:p>
            <a:pPr/>
            <a:r>
              <a:t>ReduceLROnPlateau</a:t>
            </a:r>
          </a:p>
        </p:txBody>
      </p:sp>
      <p:sp>
        <p:nvSpPr>
          <p:cNvPr id="144" name="Text 14"/>
          <p:cNvSpPr txBox="1"/>
          <p:nvPr/>
        </p:nvSpPr>
        <p:spPr>
          <a:xfrm>
            <a:off x="1106169" y="5858107"/>
            <a:ext cx="502920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Sänker learning rate när valideringen planar ut.</a:t>
            </a:r>
          </a:p>
        </p:txBody>
      </p:sp>
      <p:sp>
        <p:nvSpPr>
          <p:cNvPr id="145" name="Shape 15"/>
          <p:cNvSpPr/>
          <p:nvPr/>
        </p:nvSpPr>
        <p:spPr>
          <a:xfrm>
            <a:off x="900653" y="1640956"/>
            <a:ext cx="10377994" cy="310896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6" name="Text 16"/>
          <p:cNvSpPr txBox="1"/>
          <p:nvPr/>
        </p:nvSpPr>
        <p:spPr>
          <a:xfrm>
            <a:off x="1040025" y="1751755"/>
            <a:ext cx="502920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C2A20"/>
                </a:solidFill>
              </a:defRPr>
            </a:lvl1pPr>
          </a:lstStyle>
          <a:p>
            <a:pPr/>
            <a:r>
              <a:t>Träningshistorik – loss &amp; accuracy per epoch</a:t>
            </a:r>
          </a:p>
        </p:txBody>
      </p:sp>
      <p:sp>
        <p:nvSpPr>
          <p:cNvPr id="147" name="Shape 17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8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149" name="Text 19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06</a:t>
            </a:r>
          </a:p>
        </p:txBody>
      </p:sp>
      <p:pic>
        <p:nvPicPr>
          <p:cNvPr id="150" name="training_history.png" descr="training_history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08974" y="2074408"/>
            <a:ext cx="10161352" cy="2642681"/>
          </a:xfrm>
          <a:prstGeom prst="rect">
            <a:avLst/>
          </a:prstGeom>
          <a:ln w="12700">
            <a:miter lim="400000"/>
          </a:ln>
        </p:spPr>
      </p:pic>
      <p:sp>
        <p:nvSpPr>
          <p:cNvPr id="151" name="Shape 12"/>
          <p:cNvSpPr/>
          <p:nvPr/>
        </p:nvSpPr>
        <p:spPr>
          <a:xfrm>
            <a:off x="6053074" y="4979589"/>
            <a:ext cx="91441" cy="1143001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RESULTAT</a:t>
            </a:r>
          </a:p>
        </p:txBody>
      </p:sp>
      <p:sp>
        <p:nvSpPr>
          <p:cNvPr id="155" name="Text 2"/>
          <p:cNvSpPr txBox="1"/>
          <p:nvPr/>
        </p:nvSpPr>
        <p:spPr>
          <a:xfrm>
            <a:off x="594359" y="1154937"/>
            <a:ext cx="731520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Hittar de flesta människorna</a:t>
            </a:r>
          </a:p>
        </p:txBody>
      </p:sp>
      <p:sp>
        <p:nvSpPr>
          <p:cNvPr id="156" name="Shape 3"/>
          <p:cNvSpPr/>
          <p:nvPr/>
        </p:nvSpPr>
        <p:spPr>
          <a:xfrm>
            <a:off x="594359" y="1874520"/>
            <a:ext cx="2057401" cy="1417321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7" name="Text 4"/>
          <p:cNvSpPr txBox="1"/>
          <p:nvPr/>
        </p:nvSpPr>
        <p:spPr>
          <a:xfrm>
            <a:off x="640079" y="2100579"/>
            <a:ext cx="1965961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3400">
                <a:solidFill>
                  <a:srgbClr val="E7C14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90 %</a:t>
            </a:r>
          </a:p>
        </p:txBody>
      </p:sp>
      <p:sp>
        <p:nvSpPr>
          <p:cNvPr id="158" name="Text 5"/>
          <p:cNvSpPr txBox="1"/>
          <p:nvPr/>
        </p:nvSpPr>
        <p:spPr>
          <a:xfrm>
            <a:off x="640079" y="2870507"/>
            <a:ext cx="1965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E6EEDF"/>
                </a:solidFill>
              </a:defRPr>
            </a:lvl1pPr>
          </a:lstStyle>
          <a:p>
            <a:pPr/>
            <a:r>
              <a:t>träffsäkerhet</a:t>
            </a:r>
          </a:p>
        </p:txBody>
      </p:sp>
      <p:sp>
        <p:nvSpPr>
          <p:cNvPr id="159" name="Shape 6"/>
          <p:cNvSpPr/>
          <p:nvPr/>
        </p:nvSpPr>
        <p:spPr>
          <a:xfrm>
            <a:off x="2834639" y="1874520"/>
            <a:ext cx="2057401" cy="1417321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0" name="Text 7"/>
          <p:cNvSpPr txBox="1"/>
          <p:nvPr/>
        </p:nvSpPr>
        <p:spPr>
          <a:xfrm>
            <a:off x="2880359" y="2100579"/>
            <a:ext cx="1965961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3400">
                <a:solidFill>
                  <a:srgbClr val="E7C14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91 %</a:t>
            </a:r>
          </a:p>
        </p:txBody>
      </p:sp>
      <p:sp>
        <p:nvSpPr>
          <p:cNvPr id="161" name="Text 8"/>
          <p:cNvSpPr txBox="1"/>
          <p:nvPr/>
        </p:nvSpPr>
        <p:spPr>
          <a:xfrm>
            <a:off x="2880359" y="2870507"/>
            <a:ext cx="1965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E6EEDF"/>
                </a:solidFill>
              </a:defRPr>
            </a:lvl1pPr>
          </a:lstStyle>
          <a:p>
            <a:pPr/>
            <a:r>
              <a:t>recall, human</a:t>
            </a:r>
          </a:p>
        </p:txBody>
      </p:sp>
      <p:sp>
        <p:nvSpPr>
          <p:cNvPr id="162" name="Shape 9"/>
          <p:cNvSpPr/>
          <p:nvPr/>
        </p:nvSpPr>
        <p:spPr>
          <a:xfrm>
            <a:off x="5074920" y="1874520"/>
            <a:ext cx="2057401" cy="1417321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3" name="Text 10"/>
          <p:cNvSpPr txBox="1"/>
          <p:nvPr/>
        </p:nvSpPr>
        <p:spPr>
          <a:xfrm>
            <a:off x="5120640" y="2100579"/>
            <a:ext cx="1965961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3400">
                <a:solidFill>
                  <a:srgbClr val="E7C14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97 %</a:t>
            </a:r>
          </a:p>
        </p:txBody>
      </p:sp>
      <p:sp>
        <p:nvSpPr>
          <p:cNvPr id="164" name="Text 11"/>
          <p:cNvSpPr txBox="1"/>
          <p:nvPr/>
        </p:nvSpPr>
        <p:spPr>
          <a:xfrm>
            <a:off x="5120640" y="2870507"/>
            <a:ext cx="1965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E6EEDF"/>
                </a:solidFill>
              </a:defRPr>
            </a:lvl1pPr>
          </a:lstStyle>
          <a:p>
            <a:pPr/>
            <a:r>
              <a:t>precision, human</a:t>
            </a:r>
          </a:p>
        </p:txBody>
      </p:sp>
      <p:graphicFrame>
        <p:nvGraphicFramePr>
          <p:cNvPr id="165" name="Table 0"/>
          <p:cNvGraphicFramePr/>
          <p:nvPr/>
        </p:nvGraphicFramePr>
        <p:xfrm>
          <a:off x="594359" y="3657600"/>
          <a:ext cx="6400802" cy="196596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645920"/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support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1C2A20"/>
                          </a:solidFill>
                        </a:rPr>
                        <a:t> no human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EC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0.61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0.81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0.70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84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1C2A20"/>
                          </a:solidFill>
                        </a:rPr>
                        <a:t> human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EC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0.97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0.91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C2A20"/>
                          </a:solidFill>
                        </a:rPr>
                        <a:t>486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1C2A20"/>
                          </a:solidFill>
                        </a:rPr>
                        <a:t> accuracy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ECEFE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2A20"/>
                          </a:solidFill>
                        </a:rPr>
                        <a:t>0.90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2A20"/>
                          </a:solidFill>
                        </a:rPr>
                        <a:t>570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DAD6C8"/>
                      </a:solidFill>
                    </a:lnL>
                    <a:lnR w="12700">
                      <a:solidFill>
                        <a:srgbClr val="DAD6C8"/>
                      </a:solidFill>
                    </a:lnR>
                    <a:lnT w="12700">
                      <a:solidFill>
                        <a:srgbClr val="DAD6C8"/>
                      </a:solidFill>
                    </a:lnT>
                    <a:lnB w="12700">
                      <a:solidFill>
                        <a:srgbClr val="DAD6C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6" name="Shape 12"/>
          <p:cNvSpPr/>
          <p:nvPr/>
        </p:nvSpPr>
        <p:spPr>
          <a:xfrm>
            <a:off x="7406640" y="1874520"/>
            <a:ext cx="4160521" cy="38862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7" name="Text 13"/>
          <p:cNvSpPr txBox="1"/>
          <p:nvPr/>
        </p:nvSpPr>
        <p:spPr>
          <a:xfrm>
            <a:off x="7635239" y="2029259"/>
            <a:ext cx="37033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C2A20"/>
                </a:solidFill>
              </a:defRPr>
            </a:lvl1pPr>
          </a:lstStyle>
          <a:p>
            <a:pPr/>
            <a:r>
              <a:t>Confusion matrix (testdata)</a:t>
            </a:r>
          </a:p>
        </p:txBody>
      </p:sp>
      <p:pic>
        <p:nvPicPr>
          <p:cNvPr id="16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7640484" y="2257552"/>
            <a:ext cx="3423756" cy="3374137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Shape 14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Text 15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171" name="Text 16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72" name="443"/>
          <p:cNvSpPr txBox="1"/>
          <p:nvPr/>
        </p:nvSpPr>
        <p:spPr>
          <a:xfrm>
            <a:off x="9799079" y="4336095"/>
            <a:ext cx="297245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/>
            <a:r>
              <a:t>443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62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E7C145"/>
                </a:solidFill>
              </a:defRPr>
            </a:lvl1pPr>
          </a:lstStyle>
          <a:p>
            <a:pPr/>
            <a:r>
              <a:t>FÖRKLARBARHET</a:t>
            </a:r>
          </a:p>
        </p:txBody>
      </p:sp>
      <p:sp>
        <p:nvSpPr>
          <p:cNvPr id="176" name="Text 2"/>
          <p:cNvSpPr txBox="1"/>
          <p:nvPr/>
        </p:nvSpPr>
        <p:spPr>
          <a:xfrm>
            <a:off x="594359" y="1135887"/>
            <a:ext cx="822960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Var tittar modellen?</a:t>
            </a:r>
          </a:p>
        </p:txBody>
      </p:sp>
      <p:sp>
        <p:nvSpPr>
          <p:cNvPr id="177" name="Shape 3"/>
          <p:cNvSpPr/>
          <p:nvPr/>
        </p:nvSpPr>
        <p:spPr>
          <a:xfrm>
            <a:off x="594360" y="1874520"/>
            <a:ext cx="8229601" cy="27432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78" name="Text 4"/>
          <p:cNvSpPr txBox="1"/>
          <p:nvPr/>
        </p:nvSpPr>
        <p:spPr>
          <a:xfrm>
            <a:off x="640079" y="4762938"/>
            <a:ext cx="6309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300">
                <a:solidFill>
                  <a:srgbClr val="7BD17B"/>
                </a:solidFill>
              </a:defRPr>
            </a:pPr>
            <a:r>
              <a:t>grön</a:t>
            </a:r>
            <a:r>
              <a:rPr b="0">
                <a:solidFill>
                  <a:srgbClr val="C9D6C5"/>
                </a:solidFill>
              </a:rPr>
              <a:t> = facit (YOLO)    </a:t>
            </a:r>
            <a:r>
              <a:rPr>
                <a:solidFill>
                  <a:srgbClr val="F08A7A"/>
                </a:solidFill>
              </a:rPr>
              <a:t>röd</a:t>
            </a:r>
            <a:r>
              <a:rPr b="0">
                <a:solidFill>
                  <a:srgbClr val="C9D6C5"/>
                </a:solidFill>
              </a:rPr>
              <a:t> = Grad-CAM-box</a:t>
            </a:r>
          </a:p>
        </p:txBody>
      </p:sp>
      <p:sp>
        <p:nvSpPr>
          <p:cNvPr id="179" name="Text 5"/>
          <p:cNvSpPr txBox="1"/>
          <p:nvPr/>
        </p:nvSpPr>
        <p:spPr>
          <a:xfrm>
            <a:off x="9098549" y="1849799"/>
            <a:ext cx="1737361" cy="53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E7C14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0.15</a:t>
            </a:r>
          </a:p>
        </p:txBody>
      </p:sp>
      <p:sp>
        <p:nvSpPr>
          <p:cNvPr id="180" name="Text 6"/>
          <p:cNvSpPr txBox="1"/>
          <p:nvPr/>
        </p:nvSpPr>
        <p:spPr>
          <a:xfrm>
            <a:off x="9098549" y="2517732"/>
            <a:ext cx="17373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pc="100" sz="900">
                <a:solidFill>
                  <a:srgbClr val="9BB89A"/>
                </a:solidFill>
              </a:defRPr>
            </a:lvl1pPr>
          </a:lstStyle>
          <a:p>
            <a:pPr/>
            <a:r>
              <a:t>MEDEL-IOU</a:t>
            </a:r>
          </a:p>
        </p:txBody>
      </p:sp>
      <p:sp>
        <p:nvSpPr>
          <p:cNvPr id="181" name="Text 7"/>
          <p:cNvSpPr txBox="1"/>
          <p:nvPr/>
        </p:nvSpPr>
        <p:spPr>
          <a:xfrm>
            <a:off x="9098549" y="2992076"/>
            <a:ext cx="1737361" cy="53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E7C14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15 %</a:t>
            </a:r>
          </a:p>
        </p:txBody>
      </p:sp>
      <p:sp>
        <p:nvSpPr>
          <p:cNvPr id="182" name="Text 8"/>
          <p:cNvSpPr txBox="1"/>
          <p:nvPr/>
        </p:nvSpPr>
        <p:spPr>
          <a:xfrm>
            <a:off x="9098549" y="3660009"/>
            <a:ext cx="17373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pc="100" sz="900">
                <a:solidFill>
                  <a:srgbClr val="9BB89A"/>
                </a:solidFill>
              </a:defRPr>
            </a:lvl1pPr>
          </a:lstStyle>
          <a:p>
            <a:pPr/>
            <a:r>
              <a:t>LOKALISERADE (IOU ≥ 0.30)</a:t>
            </a:r>
          </a:p>
        </p:txBody>
      </p:sp>
      <p:sp>
        <p:nvSpPr>
          <p:cNvPr id="183" name="Text 9"/>
          <p:cNvSpPr txBox="1"/>
          <p:nvPr/>
        </p:nvSpPr>
        <p:spPr>
          <a:xfrm>
            <a:off x="640079" y="5212079"/>
            <a:ext cx="6858002" cy="478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D7E2D2"/>
                </a:solidFill>
              </a:defRPr>
            </a:lvl1pPr>
          </a:lstStyle>
          <a:p>
            <a:pPr/>
            <a:r>
              <a:t>Modellen avgör säkert OM en människa finns, men pekar inte alltid ut exakt VAR — och aktiverar ibland på fordon.</a:t>
            </a:r>
          </a:p>
        </p:txBody>
      </p:sp>
      <p:sp>
        <p:nvSpPr>
          <p:cNvPr id="184" name="Shape 10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Text 11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9BB89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186" name="Text 12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9BB89A"/>
                </a:solidFill>
              </a:defRPr>
            </a:lvl1pPr>
          </a:lstStyle>
          <a:p>
            <a:pPr/>
            <a:r>
              <a:t>08</a:t>
            </a:r>
          </a:p>
        </p:txBody>
      </p:sp>
      <p:pic>
        <p:nvPicPr>
          <p:cNvPr id="187" name="grad_cam_sample_5.png" descr="grad_cam_sample_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2930" y="1901951"/>
            <a:ext cx="7372460" cy="25472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2C5F2D"/>
                </a:solidFill>
              </a:defRPr>
            </a:lvl1pPr>
          </a:lstStyle>
          <a:p>
            <a:pPr/>
            <a:r>
              <a:t>UTFORSKAT</a:t>
            </a:r>
          </a:p>
        </p:txBody>
      </p:sp>
      <p:sp>
        <p:nvSpPr>
          <p:cNvPr id="191" name="Text 2"/>
          <p:cNvSpPr txBox="1"/>
          <p:nvPr/>
        </p:nvSpPr>
        <p:spPr>
          <a:xfrm>
            <a:off x="594359" y="1154938"/>
            <a:ext cx="1005840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2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Andra spår vi testat</a:t>
            </a:r>
          </a:p>
        </p:txBody>
      </p:sp>
      <p:sp>
        <p:nvSpPr>
          <p:cNvPr id="192" name="Shape 3"/>
          <p:cNvSpPr/>
          <p:nvPr/>
        </p:nvSpPr>
        <p:spPr>
          <a:xfrm>
            <a:off x="594359" y="1828800"/>
            <a:ext cx="3423820" cy="37490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93" name="Shape 4"/>
          <p:cNvSpPr/>
          <p:nvPr/>
        </p:nvSpPr>
        <p:spPr>
          <a:xfrm>
            <a:off x="594359" y="1828800"/>
            <a:ext cx="3423820" cy="109728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4" name="Text 5"/>
          <p:cNvSpPr txBox="1"/>
          <p:nvPr/>
        </p:nvSpPr>
        <p:spPr>
          <a:xfrm>
            <a:off x="914400" y="2148839"/>
            <a:ext cx="2783739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Koordinater</a:t>
            </a:r>
          </a:p>
          <a:p>
            <a:pPr>
              <a:defRPr b="1" sz="19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(multi-task)</a:t>
            </a:r>
          </a:p>
        </p:txBody>
      </p:sp>
      <p:sp>
        <p:nvSpPr>
          <p:cNvPr id="195" name="Text 6"/>
          <p:cNvSpPr txBox="1"/>
          <p:nvPr/>
        </p:nvSpPr>
        <p:spPr>
          <a:xfrm>
            <a:off x="914400" y="3176270"/>
            <a:ext cx="2783739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0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93 %</a:t>
            </a:r>
          </a:p>
        </p:txBody>
      </p:sp>
      <p:sp>
        <p:nvSpPr>
          <p:cNvPr id="196" name="Text 7"/>
          <p:cNvSpPr txBox="1"/>
          <p:nvPr/>
        </p:nvSpPr>
        <p:spPr>
          <a:xfrm>
            <a:off x="914400" y="4036367"/>
            <a:ext cx="278373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human (marginell vinst)</a:t>
            </a:r>
          </a:p>
        </p:txBody>
      </p:sp>
      <p:sp>
        <p:nvSpPr>
          <p:cNvPr id="197" name="Text 8"/>
          <p:cNvSpPr txBox="1"/>
          <p:nvPr/>
        </p:nvSpPr>
        <p:spPr>
          <a:xfrm>
            <a:off x="914400" y="4526279"/>
            <a:ext cx="2783739" cy="454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55624F"/>
                </a:solidFill>
              </a:defRPr>
            </a:lvl1pPr>
          </a:lstStyle>
          <a:p>
            <a:pPr/>
            <a:r>
              <a:t>Bounding box som facit tvingade modellen att se objektet bättre.</a:t>
            </a:r>
          </a:p>
        </p:txBody>
      </p:sp>
      <p:sp>
        <p:nvSpPr>
          <p:cNvPr id="198" name="Shape 9"/>
          <p:cNvSpPr/>
          <p:nvPr/>
        </p:nvSpPr>
        <p:spPr>
          <a:xfrm>
            <a:off x="4383937" y="1828800"/>
            <a:ext cx="3423819" cy="37490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99" name="Shape 10"/>
          <p:cNvSpPr/>
          <p:nvPr/>
        </p:nvSpPr>
        <p:spPr>
          <a:xfrm>
            <a:off x="4383937" y="1828800"/>
            <a:ext cx="3423819" cy="109728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Text 11"/>
          <p:cNvSpPr txBox="1"/>
          <p:nvPr/>
        </p:nvSpPr>
        <p:spPr>
          <a:xfrm>
            <a:off x="4703977" y="2148839"/>
            <a:ext cx="2783740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Focal Loss</a:t>
            </a:r>
          </a:p>
          <a:p>
            <a:pPr>
              <a:defRPr b="1" sz="19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+ tröskel</a:t>
            </a:r>
          </a:p>
        </p:txBody>
      </p:sp>
      <p:sp>
        <p:nvSpPr>
          <p:cNvPr id="201" name="Text 12"/>
          <p:cNvSpPr txBox="1"/>
          <p:nvPr/>
        </p:nvSpPr>
        <p:spPr>
          <a:xfrm>
            <a:off x="4703977" y="3176270"/>
            <a:ext cx="2783740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0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91 %</a:t>
            </a:r>
          </a:p>
        </p:txBody>
      </p:sp>
      <p:sp>
        <p:nvSpPr>
          <p:cNvPr id="202" name="Text 13"/>
          <p:cNvSpPr txBox="1"/>
          <p:nvPr/>
        </p:nvSpPr>
        <p:spPr>
          <a:xfrm>
            <a:off x="4703977" y="4036367"/>
            <a:ext cx="278374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träffsäkerhet</a:t>
            </a:r>
          </a:p>
        </p:txBody>
      </p:sp>
      <p:sp>
        <p:nvSpPr>
          <p:cNvPr id="203" name="Text 14"/>
          <p:cNvSpPr txBox="1"/>
          <p:nvPr/>
        </p:nvSpPr>
        <p:spPr>
          <a:xfrm>
            <a:off x="4703977" y="4526279"/>
            <a:ext cx="2783740" cy="454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55624F"/>
                </a:solidFill>
              </a:defRPr>
            </a:lvl1pPr>
          </a:lstStyle>
          <a:p>
            <a:pPr/>
            <a:r>
              <a:t>Optimerad för hög recall utan att drunkna i falsklarm.</a:t>
            </a:r>
          </a:p>
        </p:txBody>
      </p:sp>
      <p:sp>
        <p:nvSpPr>
          <p:cNvPr id="204" name="Shape 15"/>
          <p:cNvSpPr/>
          <p:nvPr/>
        </p:nvSpPr>
        <p:spPr>
          <a:xfrm>
            <a:off x="8173517" y="1828800"/>
            <a:ext cx="3423819" cy="37490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05" name="Shape 16"/>
          <p:cNvSpPr/>
          <p:nvPr/>
        </p:nvSpPr>
        <p:spPr>
          <a:xfrm>
            <a:off x="8173517" y="1828800"/>
            <a:ext cx="3423819" cy="109728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7"/>
          <p:cNvSpPr txBox="1"/>
          <p:nvPr/>
        </p:nvSpPr>
        <p:spPr>
          <a:xfrm>
            <a:off x="8493556" y="2148839"/>
            <a:ext cx="2783739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Syntetisk</a:t>
            </a:r>
          </a:p>
          <a:p>
            <a:pPr>
              <a:defRPr b="1" sz="1900">
                <a:solidFill>
                  <a:srgbClr val="2C5F2D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data</a:t>
            </a:r>
          </a:p>
        </p:txBody>
      </p:sp>
      <p:sp>
        <p:nvSpPr>
          <p:cNvPr id="207" name="Text 18"/>
          <p:cNvSpPr txBox="1"/>
          <p:nvPr/>
        </p:nvSpPr>
        <p:spPr>
          <a:xfrm>
            <a:off x="8493556" y="3176270"/>
            <a:ext cx="2783739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000">
                <a:solidFill>
                  <a:srgbClr val="1C2A2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208" name="Text 19"/>
          <p:cNvSpPr txBox="1"/>
          <p:nvPr/>
        </p:nvSpPr>
        <p:spPr>
          <a:xfrm>
            <a:off x="8493556" y="4036367"/>
            <a:ext cx="278373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C6B5A"/>
                </a:solidFill>
              </a:defRPr>
            </a:lvl1pPr>
          </a:lstStyle>
          <a:p>
            <a:pPr/>
            <a:r>
              <a:t>förbättring</a:t>
            </a:r>
          </a:p>
        </p:txBody>
      </p:sp>
      <p:sp>
        <p:nvSpPr>
          <p:cNvPr id="209" name="Text 20"/>
          <p:cNvSpPr txBox="1"/>
          <p:nvPr/>
        </p:nvSpPr>
        <p:spPr>
          <a:xfrm>
            <a:off x="8493556" y="4526279"/>
            <a:ext cx="2783739" cy="4544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55624F"/>
                </a:solidFill>
              </a:defRPr>
            </a:lvl1pPr>
          </a:lstStyle>
          <a:p>
            <a:pPr/>
            <a:r>
              <a:t>Extra bilder med andra miljöer och vinklar, utan fordon.</a:t>
            </a:r>
          </a:p>
        </p:txBody>
      </p:sp>
      <p:sp>
        <p:nvSpPr>
          <p:cNvPr id="210" name="Text 21"/>
          <p:cNvSpPr txBox="1"/>
          <p:nvPr/>
        </p:nvSpPr>
        <p:spPr>
          <a:xfrm>
            <a:off x="640079" y="5860219"/>
            <a:ext cx="10881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300">
                <a:solidFill>
                  <a:srgbClr val="5C6B5A"/>
                </a:solidFill>
              </a:defRPr>
            </a:lvl1pPr>
          </a:lstStyle>
          <a:p>
            <a:pPr/>
            <a:r>
              <a:t>Slutsats: förbättringarna var marginella — baslinjens arkitektur var redan väl anpassad.</a:t>
            </a:r>
          </a:p>
        </p:txBody>
      </p:sp>
      <p:sp>
        <p:nvSpPr>
          <p:cNvPr id="211" name="Shape 22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Text 23"/>
          <p:cNvSpPr txBox="1"/>
          <p:nvPr/>
        </p:nvSpPr>
        <p:spPr>
          <a:xfrm>
            <a:off x="877823" y="6348135"/>
            <a:ext cx="5394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213" name="Text 24"/>
          <p:cNvSpPr txBox="1"/>
          <p:nvPr/>
        </p:nvSpPr>
        <p:spPr>
          <a:xfrm>
            <a:off x="10911534" y="6348135"/>
            <a:ext cx="64008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5C6B5A"/>
                </a:solidFill>
              </a:defRPr>
            </a:lvl1pPr>
          </a:lstStyle>
          <a:p>
            <a:pPr/>
            <a:r>
              <a:t>09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62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594359" y="676655"/>
            <a:ext cx="201169" cy="201169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6" name="Text 1"/>
          <p:cNvSpPr txBox="1"/>
          <p:nvPr/>
        </p:nvSpPr>
        <p:spPr>
          <a:xfrm>
            <a:off x="905255" y="6988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E7C145"/>
                </a:solidFill>
              </a:defRPr>
            </a:lvl1pPr>
          </a:lstStyle>
          <a:p>
            <a:pPr/>
            <a:r>
              <a:t>SLUTSATS</a:t>
            </a:r>
          </a:p>
        </p:txBody>
      </p:sp>
      <p:sp>
        <p:nvSpPr>
          <p:cNvPr id="217" name="Text 2"/>
          <p:cNvSpPr txBox="1"/>
          <p:nvPr/>
        </p:nvSpPr>
        <p:spPr>
          <a:xfrm>
            <a:off x="594359" y="1181607"/>
            <a:ext cx="1051560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En modell som hellre larmar än missar</a:t>
            </a:r>
          </a:p>
        </p:txBody>
      </p:sp>
      <p:sp>
        <p:nvSpPr>
          <p:cNvPr id="218" name="Text 3"/>
          <p:cNvSpPr txBox="1"/>
          <p:nvPr/>
        </p:nvSpPr>
        <p:spPr>
          <a:xfrm>
            <a:off x="640080" y="2057400"/>
            <a:ext cx="6035040" cy="1315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2000"/>
              </a:lnSpc>
              <a:spcBef>
                <a:spcPts val="1400"/>
              </a:spcBef>
              <a:defRPr sz="1600">
                <a:solidFill>
                  <a:srgbClr val="E2EADD"/>
                </a:solidFill>
              </a:defRPr>
            </a:pPr>
            <a:r>
              <a:t>Genom att balansera datasetet och prioritera hög recall hittar modellen de flesta människorna — rätt avvägning för Search and Rescue.</a:t>
            </a:r>
          </a:p>
          <a:p>
            <a:pPr>
              <a:lnSpc>
                <a:spcPct val="112000"/>
              </a:lnSpc>
              <a:defRPr sz="1600">
                <a:solidFill>
                  <a:srgbClr val="B9C9B3"/>
                </a:solidFill>
              </a:defRPr>
            </a:pPr>
            <a:r>
              <a:t>Grad-CAM visar svagare exakt lokalisering och viss förväxling med fordon.</a:t>
            </a:r>
          </a:p>
        </p:txBody>
      </p:sp>
      <p:sp>
        <p:nvSpPr>
          <p:cNvPr id="219" name="Shape 4"/>
          <p:cNvSpPr/>
          <p:nvPr/>
        </p:nvSpPr>
        <p:spPr>
          <a:xfrm>
            <a:off x="7269480" y="1920239"/>
            <a:ext cx="4297681" cy="4023360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  <a:effectLst>
            <a:outerShdw sx="100000" sy="100000" kx="0" ky="0" algn="b" rotWithShape="0" blurRad="114300" dist="38100" dir="8100000">
              <a:srgbClr val="000000">
                <a:alpha val="2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20" name="Shape 5"/>
          <p:cNvSpPr/>
          <p:nvPr/>
        </p:nvSpPr>
        <p:spPr>
          <a:xfrm>
            <a:off x="7269480" y="1920239"/>
            <a:ext cx="4297681" cy="128017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Text 6"/>
          <p:cNvSpPr txBox="1"/>
          <p:nvPr/>
        </p:nvSpPr>
        <p:spPr>
          <a:xfrm>
            <a:off x="7680960" y="2294058"/>
            <a:ext cx="347472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300">
                <a:solidFill>
                  <a:srgbClr val="E7C145"/>
                </a:solidFill>
              </a:defRPr>
            </a:lvl1pPr>
          </a:lstStyle>
          <a:p>
            <a:pPr/>
            <a:r>
              <a:t>Slutresultat (test)</a:t>
            </a:r>
          </a:p>
        </p:txBody>
      </p:sp>
      <p:sp>
        <p:nvSpPr>
          <p:cNvPr id="222" name="Text 7"/>
          <p:cNvSpPr txBox="1"/>
          <p:nvPr/>
        </p:nvSpPr>
        <p:spPr>
          <a:xfrm>
            <a:off x="7680960" y="2924242"/>
            <a:ext cx="2194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EAF1E4"/>
                </a:solidFill>
              </a:defRPr>
            </a:lvl1pPr>
          </a:lstStyle>
          <a:p>
            <a:pPr/>
            <a:r>
              <a:t>Träffsäkerhet</a:t>
            </a:r>
          </a:p>
        </p:txBody>
      </p:sp>
      <p:sp>
        <p:nvSpPr>
          <p:cNvPr id="223" name="Text 8"/>
          <p:cNvSpPr txBox="1"/>
          <p:nvPr/>
        </p:nvSpPr>
        <p:spPr>
          <a:xfrm>
            <a:off x="9875519" y="2839720"/>
            <a:ext cx="1280162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b="1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90 %</a:t>
            </a:r>
          </a:p>
        </p:txBody>
      </p:sp>
      <p:sp>
        <p:nvSpPr>
          <p:cNvPr id="224" name="Shape 9"/>
          <p:cNvSpPr/>
          <p:nvPr/>
        </p:nvSpPr>
        <p:spPr>
          <a:xfrm>
            <a:off x="7635240" y="3465576"/>
            <a:ext cx="3566160" cy="1"/>
          </a:xfrm>
          <a:prstGeom prst="line">
            <a:avLst/>
          </a:prstGeom>
          <a:ln w="12700">
            <a:solidFill>
              <a:srgbClr val="3F734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10"/>
          <p:cNvSpPr txBox="1"/>
          <p:nvPr/>
        </p:nvSpPr>
        <p:spPr>
          <a:xfrm>
            <a:off x="7680960" y="3674050"/>
            <a:ext cx="2194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EAF1E4"/>
                </a:solidFill>
              </a:defRPr>
            </a:lvl1pPr>
          </a:lstStyle>
          <a:p>
            <a:pPr/>
            <a:r>
              <a:t>Recall · human</a:t>
            </a:r>
          </a:p>
        </p:txBody>
      </p:sp>
      <p:sp>
        <p:nvSpPr>
          <p:cNvPr id="226" name="Text 11"/>
          <p:cNvSpPr txBox="1"/>
          <p:nvPr/>
        </p:nvSpPr>
        <p:spPr>
          <a:xfrm>
            <a:off x="9875519" y="3589528"/>
            <a:ext cx="1280162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b="1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91 %</a:t>
            </a:r>
          </a:p>
        </p:txBody>
      </p:sp>
      <p:sp>
        <p:nvSpPr>
          <p:cNvPr id="227" name="Shape 12"/>
          <p:cNvSpPr/>
          <p:nvPr/>
        </p:nvSpPr>
        <p:spPr>
          <a:xfrm>
            <a:off x="7635240" y="4215384"/>
            <a:ext cx="3566160" cy="1"/>
          </a:xfrm>
          <a:prstGeom prst="line">
            <a:avLst/>
          </a:prstGeom>
          <a:ln w="12700">
            <a:solidFill>
              <a:srgbClr val="3F734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8" name="Text 13"/>
          <p:cNvSpPr txBox="1"/>
          <p:nvPr/>
        </p:nvSpPr>
        <p:spPr>
          <a:xfrm>
            <a:off x="7680960" y="4423857"/>
            <a:ext cx="2194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EAF1E4"/>
                </a:solidFill>
              </a:defRPr>
            </a:lvl1pPr>
          </a:lstStyle>
          <a:p>
            <a:pPr/>
            <a:r>
              <a:t>Precision · human</a:t>
            </a:r>
          </a:p>
        </p:txBody>
      </p:sp>
      <p:sp>
        <p:nvSpPr>
          <p:cNvPr id="229" name="Text 14"/>
          <p:cNvSpPr txBox="1"/>
          <p:nvPr/>
        </p:nvSpPr>
        <p:spPr>
          <a:xfrm>
            <a:off x="9875519" y="4339335"/>
            <a:ext cx="1280162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b="1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97 %</a:t>
            </a:r>
          </a:p>
        </p:txBody>
      </p:sp>
      <p:sp>
        <p:nvSpPr>
          <p:cNvPr id="230" name="Shape 15"/>
          <p:cNvSpPr/>
          <p:nvPr/>
        </p:nvSpPr>
        <p:spPr>
          <a:xfrm>
            <a:off x="7635240" y="4965191"/>
            <a:ext cx="3566160" cy="1"/>
          </a:xfrm>
          <a:prstGeom prst="line">
            <a:avLst/>
          </a:prstGeom>
          <a:ln w="12700">
            <a:solidFill>
              <a:srgbClr val="3F734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16"/>
          <p:cNvSpPr txBox="1"/>
          <p:nvPr/>
        </p:nvSpPr>
        <p:spPr>
          <a:xfrm>
            <a:off x="7680960" y="5173665"/>
            <a:ext cx="21945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EAF1E4"/>
                </a:solidFill>
              </a:defRPr>
            </a:lvl1pPr>
          </a:lstStyle>
          <a:p>
            <a:pPr/>
            <a:r>
              <a:t>F1 · human</a:t>
            </a:r>
          </a:p>
        </p:txBody>
      </p:sp>
      <p:sp>
        <p:nvSpPr>
          <p:cNvPr id="232" name="Text 17"/>
          <p:cNvSpPr txBox="1"/>
          <p:nvPr/>
        </p:nvSpPr>
        <p:spPr>
          <a:xfrm>
            <a:off x="9875519" y="5089144"/>
            <a:ext cx="1280162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b="1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0.94</a:t>
            </a:r>
          </a:p>
        </p:txBody>
      </p:sp>
      <p:sp>
        <p:nvSpPr>
          <p:cNvPr id="233" name="Shape 18"/>
          <p:cNvSpPr/>
          <p:nvPr/>
        </p:nvSpPr>
        <p:spPr>
          <a:xfrm>
            <a:off x="594359" y="6382511"/>
            <a:ext cx="146305" cy="146305"/>
          </a:xfrm>
          <a:prstGeom prst="rect">
            <a:avLst/>
          </a:prstGeom>
          <a:solidFill>
            <a:srgbClr val="E7C14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4" name="Text 19"/>
          <p:cNvSpPr txBox="1"/>
          <p:nvPr/>
        </p:nvSpPr>
        <p:spPr>
          <a:xfrm>
            <a:off x="877823" y="6348134"/>
            <a:ext cx="53949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9BB89A"/>
                </a:solidFill>
              </a:defRPr>
            </a:lvl1pPr>
          </a:lstStyle>
          <a:p>
            <a:pPr/>
            <a:r>
              <a:t>FASAN · Sökning Av Nödställda</a:t>
            </a:r>
          </a:p>
        </p:txBody>
      </p:sp>
      <p:sp>
        <p:nvSpPr>
          <p:cNvPr id="235" name="Text 20"/>
          <p:cNvSpPr txBox="1"/>
          <p:nvPr/>
        </p:nvSpPr>
        <p:spPr>
          <a:xfrm>
            <a:off x="10911535" y="6348134"/>
            <a:ext cx="64008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9BB89A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236" name="Text 3"/>
          <p:cNvSpPr txBox="1"/>
          <p:nvPr/>
        </p:nvSpPr>
        <p:spPr>
          <a:xfrm>
            <a:off x="640080" y="4019978"/>
            <a:ext cx="6035040" cy="113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2000"/>
              </a:lnSpc>
              <a:defRPr sz="1600">
                <a:solidFill>
                  <a:srgbClr val="FFFFFF"/>
                </a:solidFill>
              </a:defRPr>
            </a:pPr>
            <a:r>
              <a:t>Nästa steg</a:t>
            </a:r>
          </a:p>
          <a:p>
            <a:pPr>
              <a:lnSpc>
                <a:spcPct val="112000"/>
              </a:lnSpc>
              <a:defRPr sz="1600">
                <a:solidFill>
                  <a:srgbClr val="FFFFFF"/>
                </a:solidFill>
              </a:defRPr>
            </a:pPr>
          </a:p>
          <a:p>
            <a:pPr>
              <a:lnSpc>
                <a:spcPct val="112000"/>
              </a:lnSpc>
              <a:defRPr sz="1600">
                <a:solidFill>
                  <a:srgbClr val="B9C9B3"/>
                </a:solidFill>
              </a:defRPr>
            </a:pPr>
            <a:r>
              <a:t>Stärka lokaliseringen och minska falsklarm från fordon. </a:t>
            </a:r>
          </a:p>
          <a:p>
            <a:pPr>
              <a:lnSpc>
                <a:spcPct val="112000"/>
              </a:lnSpc>
              <a:defRPr sz="1600">
                <a:solidFill>
                  <a:srgbClr val="B9C9B3"/>
                </a:solidFill>
              </a:defRPr>
            </a:pPr>
            <a:r>
              <a:t>Testa att implementera en YOLO modell och segmentering.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